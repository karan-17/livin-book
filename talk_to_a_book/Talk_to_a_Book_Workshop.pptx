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b49800f1-18ed-5a5d-af83-9ac3e3bee131/scratchpad/workshop/assets/leather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272888" y="566928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dirty="0">
                <a:solidFill>
                  <a:srgbClr val="000000"/>
                </a:solidFill>
              </a:rPr>
              <a:t>📖</a:t>
            </a:r>
            <a:endParaRPr lang="en-US" sz="5400" dirty="0"/>
          </a:p>
        </p:txBody>
      </p:sp>
      <p:sp>
        <p:nvSpPr>
          <p:cNvPr id="4" name="Text 1"/>
          <p:cNvSpPr txBox="1"/>
          <p:nvPr/>
        </p:nvSpPr>
        <p:spPr>
          <a:xfrm>
            <a:off x="0" y="2331720"/>
            <a:ext cx="121916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spc="300" kern="0" dirty="0">
                <a:solidFill>
                  <a:srgbClr val="EFE3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TALK TO A BOOK</a:t>
            </a:r>
            <a:endParaRPr lang="en-US" sz="5000" dirty="0"/>
          </a:p>
        </p:txBody>
      </p:sp>
      <p:sp>
        <p:nvSpPr>
          <p:cNvPr id="5" name="Text 2"/>
          <p:cNvSpPr txBox="1"/>
          <p:nvPr/>
        </p:nvSpPr>
        <p:spPr>
          <a:xfrm>
            <a:off x="1066648" y="3310128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D8B8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hands-on workshop  ·  build an agentic RAG companion for your favourite novel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4632808" y="3977640"/>
            <a:ext cx="2926080" cy="0"/>
          </a:xfrm>
          <a:prstGeom prst="line">
            <a:avLst/>
          </a:prstGeom>
          <a:noFill/>
          <a:ln w="12700">
            <a:solidFill>
              <a:srgbClr val="B8860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0" y="4160520"/>
            <a:ext cx="12191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🪶  ✒️  🕯️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0" y="4892040"/>
            <a:ext cx="121916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9B98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1.5 – 2 hours  ·  LangChain + LangGraph + LangSmith  ·  Python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0" y="598932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9B98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presented by Karan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b49800f1-18ed-5a5d-af83-9ac3e3bee131/scratchpad/workshop/assets/parchment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B886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QUEST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841248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1B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We're Building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1517904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43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By the end of this notebook, your agent will do five things.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331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📚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1371600" y="233172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E1B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 a whole novel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303520" y="2331720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B43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any .txt or .pdf — chosen by you</a:t>
            </a:r>
            <a:endParaRPr lang="en-US" sz="135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311810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🔎</a:t>
            </a:r>
            <a:endParaRPr lang="en-US" sz="2600" dirty="0"/>
          </a:p>
        </p:txBody>
      </p:sp>
      <p:sp>
        <p:nvSpPr>
          <p:cNvPr id="10" name="Text 7"/>
          <p:cNvSpPr txBox="1"/>
          <p:nvPr/>
        </p:nvSpPr>
        <p:spPr>
          <a:xfrm>
            <a:off x="1371600" y="3118104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E1B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Search it by meaning</a:t>
            </a:r>
            <a:endParaRPr lang="en-US" sz="1650" dirty="0"/>
          </a:p>
        </p:txBody>
      </p:sp>
      <p:sp>
        <p:nvSpPr>
          <p:cNvPr id="11" name="Text 8"/>
          <p:cNvSpPr txBox="1"/>
          <p:nvPr/>
        </p:nvSpPr>
        <p:spPr>
          <a:xfrm>
            <a:off x="5303520" y="3118104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B43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not just keywords — the heart of RAG</a:t>
            </a:r>
            <a:endParaRPr lang="en-US" sz="1350" dirty="0"/>
          </a:p>
        </p:txBody>
      </p:sp>
      <p:sp>
        <p:nvSpPr>
          <p:cNvPr id="12" name="Text 9"/>
          <p:cNvSpPr txBox="1"/>
          <p:nvPr/>
        </p:nvSpPr>
        <p:spPr>
          <a:xfrm>
            <a:off x="640080" y="390448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🧭</a:t>
            </a:r>
            <a:endParaRPr lang="en-US" sz="2600" dirty="0"/>
          </a:p>
        </p:txBody>
      </p:sp>
      <p:sp>
        <p:nvSpPr>
          <p:cNvPr id="13" name="Text 10"/>
          <p:cNvSpPr txBox="1"/>
          <p:nvPr/>
        </p:nvSpPr>
        <p:spPr>
          <a:xfrm>
            <a:off x="1371600" y="3904488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E1B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Reason in several steps</a:t>
            </a:r>
            <a:endParaRPr lang="en-US" sz="1650" dirty="0"/>
          </a:p>
        </p:txBody>
      </p:sp>
      <p:sp>
        <p:nvSpPr>
          <p:cNvPr id="14" name="Text 11"/>
          <p:cNvSpPr txBox="1"/>
          <p:nvPr/>
        </p:nvSpPr>
        <p:spPr>
          <a:xfrm>
            <a:off x="5303520" y="3904488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B43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decides when to search, what for, and when it knows enough</a:t>
            </a:r>
            <a:endParaRPr lang="en-US" sz="1350" dirty="0"/>
          </a:p>
        </p:txBody>
      </p:sp>
      <p:sp>
        <p:nvSpPr>
          <p:cNvPr id="15" name="Text 12"/>
          <p:cNvSpPr txBox="1"/>
          <p:nvPr/>
        </p:nvSpPr>
        <p:spPr>
          <a:xfrm>
            <a:off x="640080" y="469087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🕯️</a:t>
            </a:r>
            <a:endParaRPr lang="en-US" sz="2600" dirty="0"/>
          </a:p>
        </p:txBody>
      </p:sp>
      <p:sp>
        <p:nvSpPr>
          <p:cNvPr id="16" name="Text 13"/>
          <p:cNvSpPr txBox="1"/>
          <p:nvPr/>
        </p:nvSpPr>
        <p:spPr>
          <a:xfrm>
            <a:off x="1371600" y="4690872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E1B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Remember the conversation</a:t>
            </a:r>
            <a:endParaRPr lang="en-US" sz="1650" dirty="0"/>
          </a:p>
        </p:txBody>
      </p:sp>
      <p:sp>
        <p:nvSpPr>
          <p:cNvPr id="17" name="Text 14"/>
          <p:cNvSpPr txBox="1"/>
          <p:nvPr/>
        </p:nvSpPr>
        <p:spPr>
          <a:xfrm>
            <a:off x="5303520" y="4690872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B43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follow-ups like “why did she do that?” just work</a:t>
            </a:r>
            <a:endParaRPr lang="en-US" sz="1350" dirty="0"/>
          </a:p>
        </p:txBody>
      </p:sp>
      <p:sp>
        <p:nvSpPr>
          <p:cNvPr id="18" name="Text 15"/>
          <p:cNvSpPr txBox="1"/>
          <p:nvPr/>
        </p:nvSpPr>
        <p:spPr>
          <a:xfrm>
            <a:off x="640080" y="547725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🔍</a:t>
            </a:r>
            <a:endParaRPr lang="en-US" sz="2600" dirty="0"/>
          </a:p>
        </p:txBody>
      </p:sp>
      <p:sp>
        <p:nvSpPr>
          <p:cNvPr id="19" name="Text 16"/>
          <p:cNvSpPr txBox="1"/>
          <p:nvPr/>
        </p:nvSpPr>
        <p:spPr>
          <a:xfrm>
            <a:off x="1371600" y="5477256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E1B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Show you every step</a:t>
            </a:r>
            <a:endParaRPr lang="en-US" sz="1650" dirty="0"/>
          </a:p>
        </p:txBody>
      </p:sp>
      <p:sp>
        <p:nvSpPr>
          <p:cNvPr id="20" name="Text 17"/>
          <p:cNvSpPr txBox="1"/>
          <p:nvPr/>
        </p:nvSpPr>
        <p:spPr>
          <a:xfrm>
            <a:off x="5303520" y="5477256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B43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fully traced, so nothing is a black box</a:t>
            </a:r>
            <a:endParaRPr lang="en-US" sz="1350" dirty="0"/>
          </a:p>
        </p:txBody>
      </p:sp>
      <p:sp>
        <p:nvSpPr>
          <p:cNvPr id="21" name="Text 18"/>
          <p:cNvSpPr txBox="1"/>
          <p:nvPr/>
        </p:nvSpPr>
        <p:spPr>
          <a:xfrm>
            <a:off x="11277295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43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b49800f1-18ed-5a5d-af83-9ac3e3bee131/scratchpad/workshop/assets/parchment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B886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SHAPE OF IT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841248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1B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Page to Conversation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1517904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43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Everything you build funnels into one loop the agent runs, over and over, per question.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1007212" y="2606040"/>
            <a:ext cx="1874520" cy="777240"/>
          </a:xfrm>
          <a:prstGeom prst="roundRect">
            <a:avLst>
              <a:gd name="adj" fmla="val 9412"/>
            </a:avLst>
          </a:prstGeom>
          <a:solidFill>
            <a:srgbClr val="E9D9AF"/>
          </a:solidFill>
          <a:ln w="12700">
            <a:solidFill>
              <a:srgbClr val="B79A65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07212" y="260604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E1B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novel.txt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2881732" y="2606040"/>
            <a:ext cx="2011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8860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3082900" y="2606040"/>
            <a:ext cx="1874520" cy="777240"/>
          </a:xfrm>
          <a:prstGeom prst="roundRect">
            <a:avLst>
              <a:gd name="adj" fmla="val 9412"/>
            </a:avLst>
          </a:prstGeom>
          <a:solidFill>
            <a:srgbClr val="E9D9AF"/>
          </a:solidFill>
          <a:ln w="12700">
            <a:solidFill>
              <a:srgbClr val="B79A65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082900" y="260604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E1B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chapters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4957420" y="2606040"/>
            <a:ext cx="2011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8860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5158588" y="2606040"/>
            <a:ext cx="1874520" cy="777240"/>
          </a:xfrm>
          <a:prstGeom prst="roundRect">
            <a:avLst>
              <a:gd name="adj" fmla="val 9412"/>
            </a:avLst>
          </a:prstGeom>
          <a:solidFill>
            <a:srgbClr val="E9D9AF"/>
          </a:solidFill>
          <a:ln w="12700">
            <a:solidFill>
              <a:srgbClr val="B79A65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158588" y="260604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E1B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chunks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7033108" y="2606040"/>
            <a:ext cx="2011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8860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7234276" y="2606040"/>
            <a:ext cx="1874520" cy="777240"/>
          </a:xfrm>
          <a:prstGeom prst="roundRect">
            <a:avLst>
              <a:gd name="adj" fmla="val 9412"/>
            </a:avLst>
          </a:prstGeom>
          <a:solidFill>
            <a:srgbClr val="E9D9AF"/>
          </a:solidFill>
          <a:ln w="12700">
            <a:solidFill>
              <a:srgbClr val="B79A65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234276" y="260604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E1B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embeddings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9108796" y="2606040"/>
            <a:ext cx="2011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8860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→</a:t>
            </a:r>
            <a:endParaRPr lang="en-US" sz="1800" dirty="0"/>
          </a:p>
        </p:txBody>
      </p:sp>
      <p:sp>
        <p:nvSpPr>
          <p:cNvPr id="18" name="Shape 15"/>
          <p:cNvSpPr/>
          <p:nvPr/>
        </p:nvSpPr>
        <p:spPr>
          <a:xfrm>
            <a:off x="9309964" y="2606040"/>
            <a:ext cx="1874520" cy="777240"/>
          </a:xfrm>
          <a:prstGeom prst="roundRect">
            <a:avLst>
              <a:gd name="adj" fmla="val 9412"/>
            </a:avLst>
          </a:prstGeom>
          <a:solidFill>
            <a:srgbClr val="E9D9AF"/>
          </a:solidFill>
          <a:ln w="12700">
            <a:solidFill>
              <a:srgbClr val="B79A65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9309964" y="260604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E1B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vector store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10247224" y="3383280"/>
            <a:ext cx="-524408" cy="777240"/>
          </a:xfrm>
          <a:prstGeom prst="line">
            <a:avLst/>
          </a:prstGeom>
          <a:noFill/>
          <a:ln w="19050">
            <a:solidFill>
              <a:srgbClr val="B8860B"/>
            </a:solidFill>
            <a:prstDash val="solid"/>
            <a:tailEnd type="triangle"/>
          </a:ln>
        </p:spPr>
      </p:sp>
      <p:sp>
        <p:nvSpPr>
          <p:cNvPr id="21" name="Text 18"/>
          <p:cNvSpPr txBox="1"/>
          <p:nvPr/>
        </p:nvSpPr>
        <p:spPr>
          <a:xfrm>
            <a:off x="9332824" y="34290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43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search_book / read_chapter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7894015" y="4160520"/>
            <a:ext cx="3657600" cy="1691640"/>
          </a:xfrm>
          <a:prstGeom prst="roundRect">
            <a:avLst>
              <a:gd name="adj" fmla="val 6486"/>
            </a:avLst>
          </a:prstGeom>
          <a:solidFill>
            <a:srgbClr val="241509"/>
          </a:solidFill>
          <a:ln w="15875">
            <a:solidFill>
              <a:srgbClr val="B8860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0000"/>
              </a:srgbClr>
            </a:outerShdw>
          </a:effectLst>
        </p:spPr>
      </p:sp>
      <p:sp>
        <p:nvSpPr>
          <p:cNvPr id="23" name="Text 20"/>
          <p:cNvSpPr txBox="1"/>
          <p:nvPr/>
        </p:nvSpPr>
        <p:spPr>
          <a:xfrm>
            <a:off x="7894015" y="4288536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8B8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LangGraph agent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7894015" y="466344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F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 (Gemini)  ⇄  tools</a:t>
            </a:r>
            <a:endParaRPr lang="en-US" sz="1250" dirty="0"/>
          </a:p>
          <a:p>
            <a:pPr algn="ctr" indent="0" marL="0">
              <a:lnSpc>
                <a:spcPct val="115000"/>
              </a:lnSpc>
              <a:buNone/>
            </a:pPr>
            <a:endParaRPr lang="en-US" sz="12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F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memory: checkpointer + thread_id</a:t>
            </a:r>
            <a:endParaRPr lang="en-US" sz="1250" dirty="0"/>
          </a:p>
        </p:txBody>
      </p:sp>
      <p:sp>
        <p:nvSpPr>
          <p:cNvPr id="25" name="Text 22"/>
          <p:cNvSpPr txBox="1"/>
          <p:nvPr/>
        </p:nvSpPr>
        <p:spPr>
          <a:xfrm>
            <a:off x="640080" y="608076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B43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you  ⇄  the agent, every step traced in LangSmith</a:t>
            </a:r>
            <a:endParaRPr lang="en-US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11277295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43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b49800f1-18ed-5a5d-af83-9ac3e3bee131/scratchpad/workshop/assets/parchment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B886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COMPANIONS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841248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1B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Toolkit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1517904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43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Three libraries, three jobs — each one doing exactly one thing well.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632308" y="2331720"/>
            <a:ext cx="3429000" cy="3383280"/>
          </a:xfrm>
          <a:prstGeom prst="roundRect">
            <a:avLst>
              <a:gd name="adj" fmla="val 2432"/>
            </a:avLst>
          </a:prstGeom>
          <a:solidFill>
            <a:srgbClr val="E9D9AF"/>
          </a:solidFill>
          <a:ln w="12700">
            <a:solidFill>
              <a:srgbClr val="B79A6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22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632308" y="2606040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🔗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632308" y="347472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E1B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LangChain</a:t>
            </a:r>
            <a:endParaRPr lang="en-US" sz="1900" dirty="0"/>
          </a:p>
        </p:txBody>
      </p:sp>
      <p:sp>
        <p:nvSpPr>
          <p:cNvPr id="9" name="Text 6"/>
          <p:cNvSpPr txBox="1"/>
          <p:nvPr/>
        </p:nvSpPr>
        <p:spPr>
          <a:xfrm>
            <a:off x="924916" y="4023360"/>
            <a:ext cx="284378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43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building blocks: Documents, the text splitter, embeddings, the vector store, the chat model, tools.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381348" y="2331720"/>
            <a:ext cx="3429000" cy="3383280"/>
          </a:xfrm>
          <a:prstGeom prst="roundRect">
            <a:avLst>
              <a:gd name="adj" fmla="val 2432"/>
            </a:avLst>
          </a:prstGeom>
          <a:solidFill>
            <a:srgbClr val="E9D9AF"/>
          </a:solidFill>
          <a:ln w="12700">
            <a:solidFill>
              <a:srgbClr val="B79A6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22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4381348" y="2606040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🕸️</a:t>
            </a:r>
            <a:endParaRPr lang="en-US" sz="4000" dirty="0"/>
          </a:p>
        </p:txBody>
      </p:sp>
      <p:sp>
        <p:nvSpPr>
          <p:cNvPr id="12" name="Text 9"/>
          <p:cNvSpPr txBox="1"/>
          <p:nvPr/>
        </p:nvSpPr>
        <p:spPr>
          <a:xfrm>
            <a:off x="4381348" y="347472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E1B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LangGraph</a:t>
            </a:r>
            <a:endParaRPr lang="en-US" sz="1900" dirty="0"/>
          </a:p>
        </p:txBody>
      </p:sp>
      <p:sp>
        <p:nvSpPr>
          <p:cNvPr id="13" name="Text 10"/>
          <p:cNvSpPr txBox="1"/>
          <p:nvPr/>
        </p:nvSpPr>
        <p:spPr>
          <a:xfrm>
            <a:off x="4673956" y="4023360"/>
            <a:ext cx="284378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43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agent itself — a small graph where the model loops between thinking and using tools, plus memory.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8130388" y="2331720"/>
            <a:ext cx="3429000" cy="3383280"/>
          </a:xfrm>
          <a:prstGeom prst="roundRect">
            <a:avLst>
              <a:gd name="adj" fmla="val 2432"/>
            </a:avLst>
          </a:prstGeom>
          <a:solidFill>
            <a:srgbClr val="E9D9AF"/>
          </a:solidFill>
          <a:ln w="12700">
            <a:solidFill>
              <a:srgbClr val="B79A6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22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8130388" y="2606040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🔍</a:t>
            </a:r>
            <a:endParaRPr lang="en-US" sz="4000" dirty="0"/>
          </a:p>
        </p:txBody>
      </p:sp>
      <p:sp>
        <p:nvSpPr>
          <p:cNvPr id="16" name="Text 13"/>
          <p:cNvSpPr txBox="1"/>
          <p:nvPr/>
        </p:nvSpPr>
        <p:spPr>
          <a:xfrm>
            <a:off x="8130388" y="347472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E1B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LangSmith</a:t>
            </a:r>
            <a:endParaRPr lang="en-US" sz="1900" dirty="0"/>
          </a:p>
        </p:txBody>
      </p:sp>
      <p:sp>
        <p:nvSpPr>
          <p:cNvPr id="17" name="Text 14"/>
          <p:cNvSpPr txBox="1"/>
          <p:nvPr/>
        </p:nvSpPr>
        <p:spPr>
          <a:xfrm>
            <a:off x="8422996" y="4023360"/>
            <a:ext cx="284378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43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Observability — a trace of every LLM call and tool call, plus a mini evaluation with an LLM-as-judge.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11277295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43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b49800f1-18ed-5a5d-af83-9ac3e3bee131/scratchpad/workshop/assets/parchment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B886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TABLE OF CONTENTS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841248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1B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Workshop, Step by Step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1517904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43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About 1.5–2 hours, start to finish — settle in.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331720"/>
            <a:ext cx="822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886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508760" y="2331720"/>
            <a:ext cx="7863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E1B0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Setup — config &amp; keys</a:t>
            </a:r>
            <a:endParaRPr lang="en-US" sz="1550" dirty="0"/>
          </a:p>
        </p:txBody>
      </p:sp>
      <p:sp>
        <p:nvSpPr>
          <p:cNvPr id="8" name="Text 5"/>
          <p:cNvSpPr txBox="1"/>
          <p:nvPr/>
        </p:nvSpPr>
        <p:spPr>
          <a:xfrm>
            <a:off x="1508760" y="2331720"/>
            <a:ext cx="7863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B79A6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· · · · · · · · · · · · · · · · · · · · · · · · · · · · · · · · · · · · · · · · · · · · · · · · · · · ·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9997135" y="2331720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i="1" dirty="0">
                <a:solidFill>
                  <a:srgbClr val="5B43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 min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2843784"/>
            <a:ext cx="822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886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1–2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1508760" y="2843784"/>
            <a:ext cx="7863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E1B0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Load the book · split into chapters &amp; chunks</a:t>
            </a:r>
            <a:endParaRPr lang="en-US" sz="1550" dirty="0"/>
          </a:p>
        </p:txBody>
      </p:sp>
      <p:sp>
        <p:nvSpPr>
          <p:cNvPr id="12" name="Text 9"/>
          <p:cNvSpPr txBox="1"/>
          <p:nvPr/>
        </p:nvSpPr>
        <p:spPr>
          <a:xfrm>
            <a:off x="1508760" y="2843784"/>
            <a:ext cx="7863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B79A6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· · · · · · · · · · · · · · · · · · · · · · · · · · · · · · · · · · · · · · · · · · · · · · · · · · · ·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9997135" y="2843784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i="1" dirty="0">
                <a:solidFill>
                  <a:srgbClr val="5B43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20 min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640080" y="3355848"/>
            <a:ext cx="822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886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1508760" y="3355848"/>
            <a:ext cx="7863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E1B0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Embeddings &amp; a vector store</a:t>
            </a:r>
            <a:endParaRPr lang="en-US" sz="1550" dirty="0"/>
          </a:p>
        </p:txBody>
      </p:sp>
      <p:sp>
        <p:nvSpPr>
          <p:cNvPr id="16" name="Text 13"/>
          <p:cNvSpPr txBox="1"/>
          <p:nvPr/>
        </p:nvSpPr>
        <p:spPr>
          <a:xfrm>
            <a:off x="1508760" y="3355848"/>
            <a:ext cx="7863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B79A6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· · · · · · · · · · · · · · · · · · · · · · · · · · · · · · · · · · · · · · · · · · · · · · · · · · · ·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9997135" y="3355848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i="1" dirty="0">
                <a:solidFill>
                  <a:srgbClr val="5B43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15 min*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640080" y="3867912"/>
            <a:ext cx="822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886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4–5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1508760" y="3867912"/>
            <a:ext cx="7863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E1B0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Tools, and the chat model</a:t>
            </a:r>
            <a:endParaRPr lang="en-US" sz="1550" dirty="0"/>
          </a:p>
        </p:txBody>
      </p:sp>
      <p:sp>
        <p:nvSpPr>
          <p:cNvPr id="20" name="Text 17"/>
          <p:cNvSpPr txBox="1"/>
          <p:nvPr/>
        </p:nvSpPr>
        <p:spPr>
          <a:xfrm>
            <a:off x="1508760" y="3867912"/>
            <a:ext cx="7863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B79A6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· · · · · · · · · · · · · · · · · · · · · · · · · · · · · · · · · · · · · · · · · · · · · · · · · · · ·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9997135" y="3867912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i="1" dirty="0">
                <a:solidFill>
                  <a:srgbClr val="5B43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15 min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640080" y="4379976"/>
            <a:ext cx="822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886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1508760" y="4379976"/>
            <a:ext cx="7863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E1B0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Build the agent with LangGraph</a:t>
            </a:r>
            <a:endParaRPr lang="en-US" sz="1550" dirty="0"/>
          </a:p>
        </p:txBody>
      </p:sp>
      <p:sp>
        <p:nvSpPr>
          <p:cNvPr id="24" name="Text 21"/>
          <p:cNvSpPr txBox="1"/>
          <p:nvPr/>
        </p:nvSpPr>
        <p:spPr>
          <a:xfrm>
            <a:off x="1508760" y="4379976"/>
            <a:ext cx="7863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B79A6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· · · · · · · · · · · · · · · · · · · · · · · · · · · · · · · · · · · · · · · · · · · · · · · · · · · ·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9997135" y="4379976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i="1" dirty="0">
                <a:solidFill>
                  <a:srgbClr val="5B43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20 min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640080" y="4892040"/>
            <a:ext cx="822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886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1508760" y="4892040"/>
            <a:ext cx="7863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E1B0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Multi-turn chat, with memory</a:t>
            </a:r>
            <a:endParaRPr lang="en-US" sz="1550" dirty="0"/>
          </a:p>
        </p:txBody>
      </p:sp>
      <p:sp>
        <p:nvSpPr>
          <p:cNvPr id="28" name="Text 25"/>
          <p:cNvSpPr txBox="1"/>
          <p:nvPr/>
        </p:nvSpPr>
        <p:spPr>
          <a:xfrm>
            <a:off x="1508760" y="4892040"/>
            <a:ext cx="7863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B79A6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· · · · · · · · · · · · · · · · · · · · · · · · · · · · · · · · · · · · · · · · · · · · · · · · · · · ·</a:t>
            </a:r>
            <a:endParaRPr lang="en-US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9997135" y="4892040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i="1" dirty="0">
                <a:solidFill>
                  <a:srgbClr val="5B43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15 min</a:t>
            </a:r>
            <a:endParaRPr lang="en-US" sz="1400" dirty="0"/>
          </a:p>
        </p:txBody>
      </p:sp>
      <p:sp>
        <p:nvSpPr>
          <p:cNvPr id="30" name="Text 27"/>
          <p:cNvSpPr txBox="1"/>
          <p:nvPr/>
        </p:nvSpPr>
        <p:spPr>
          <a:xfrm>
            <a:off x="640080" y="5404104"/>
            <a:ext cx="822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886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500" dirty="0"/>
          </a:p>
        </p:txBody>
      </p:sp>
      <p:sp>
        <p:nvSpPr>
          <p:cNvPr id="31" name="Text 28"/>
          <p:cNvSpPr txBox="1"/>
          <p:nvPr/>
        </p:nvSpPr>
        <p:spPr>
          <a:xfrm>
            <a:off x="1508760" y="5404104"/>
            <a:ext cx="7863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E1B0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LangSmith — traces &amp; evaluation</a:t>
            </a:r>
            <a:endParaRPr lang="en-US" sz="1550" dirty="0"/>
          </a:p>
        </p:txBody>
      </p:sp>
      <p:sp>
        <p:nvSpPr>
          <p:cNvPr id="32" name="Text 29"/>
          <p:cNvSpPr txBox="1"/>
          <p:nvPr/>
        </p:nvSpPr>
        <p:spPr>
          <a:xfrm>
            <a:off x="1508760" y="5404104"/>
            <a:ext cx="7863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B79A6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· · · · · · · · · · · · · · · · · · · · · · · · · · · · · · · · · · · · · · · · · · · · · · · · · · · ·</a:t>
            </a:r>
            <a:endParaRPr lang="en-US" sz="1200" dirty="0"/>
          </a:p>
        </p:txBody>
      </p:sp>
      <p:sp>
        <p:nvSpPr>
          <p:cNvPr id="33" name="Text 30"/>
          <p:cNvSpPr txBox="1"/>
          <p:nvPr/>
        </p:nvSpPr>
        <p:spPr>
          <a:xfrm>
            <a:off x="9997135" y="5404104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i="1" dirty="0">
                <a:solidFill>
                  <a:srgbClr val="5B43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 min</a:t>
            </a:r>
            <a:endParaRPr lang="en-US" sz="1400" dirty="0"/>
          </a:p>
        </p:txBody>
      </p:sp>
      <p:sp>
        <p:nvSpPr>
          <p:cNvPr id="34" name="Text 31"/>
          <p:cNvSpPr txBox="1"/>
          <p:nvPr/>
        </p:nvSpPr>
        <p:spPr>
          <a:xfrm>
            <a:off x="640080" y="6099048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43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* plus roughly 20 minutes of the free embedding tier quietly working in the background</a:t>
            </a:r>
            <a:endParaRPr lang="en-US" sz="1150" dirty="0"/>
          </a:p>
        </p:txBody>
      </p:sp>
      <p:sp>
        <p:nvSpPr>
          <p:cNvPr id="35" name="Text 32"/>
          <p:cNvSpPr txBox="1"/>
          <p:nvPr/>
        </p:nvSpPr>
        <p:spPr>
          <a:xfrm>
            <a:off x="11277295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43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b49800f1-18ed-5a5d-af83-9ac3e3bee131/scratchpad/workshop/assets/parchment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B886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0 · BEFORE WE BEGIN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841248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1B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Prerequisites &amp; Setup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1517904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43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About 10 minutes. Three free-tier keys, one virtual environment.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640080" y="2103120"/>
            <a:ext cx="5029200" cy="2103120"/>
          </a:xfrm>
          <a:prstGeom prst="roundRect">
            <a:avLst>
              <a:gd name="adj" fmla="val 3913"/>
            </a:avLst>
          </a:prstGeom>
          <a:solidFill>
            <a:srgbClr val="E9D9AF"/>
          </a:solidFill>
          <a:ln w="12700">
            <a:solidFill>
              <a:srgbClr val="B79A6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22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914400" y="2267712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1B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 need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2633472"/>
            <a:ext cx="448056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5B43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Python 3.10+ and a terminal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5B43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code editor + Jupyter (installed via requirements.txt)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5B43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novel as .txt or .pdf — free classics at gutenberg.org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5B43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About 20 quiet minutes for embeddings to finish (free tier)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035040" y="2103120"/>
            <a:ext cx="5516575" cy="2103120"/>
          </a:xfrm>
          <a:prstGeom prst="roundRect">
            <a:avLst>
              <a:gd name="adj" fmla="val 3913"/>
            </a:avLst>
          </a:prstGeom>
          <a:solidFill>
            <a:srgbClr val="E9D9AF"/>
          </a:solidFill>
          <a:ln w="12700">
            <a:solidFill>
              <a:srgbClr val="B79A6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22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6309360" y="2267712"/>
            <a:ext cx="49679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1B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keys — all have free tiers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6309360" y="2615184"/>
            <a:ext cx="49679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A1C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GOOGLE_API_KEY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6309360" y="2843784"/>
            <a:ext cx="49679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43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Gemini, the LLM  ·  aistudio.google.com/apikey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6309360" y="3090672"/>
            <a:ext cx="49679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A1C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VOYAGE_API_KEY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6309360" y="3319272"/>
            <a:ext cx="49679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43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embeddings  ·  dash.voyageai.com  (3 req/min free)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6309360" y="3566160"/>
            <a:ext cx="49679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A1C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LANGSMITH_API_KEY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6309360" y="3794760"/>
            <a:ext cx="49679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43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tracing  ·  smith.langchain.com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640080" y="4334256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43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 .env file yet? No matter — the notebook simply asks for each key the first time it needs it.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40080" y="4626864"/>
            <a:ext cx="10911535" cy="1600200"/>
          </a:xfrm>
          <a:prstGeom prst="roundRect">
            <a:avLst>
              <a:gd name="adj" fmla="val 5143"/>
            </a:avLst>
          </a:prstGeom>
          <a:solidFill>
            <a:srgbClr val="20130A"/>
          </a:solidFill>
          <a:ln w="15875">
            <a:solidFill>
              <a:srgbClr val="8B6914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0000"/>
              </a:srgbClr>
            </a:outerShdw>
          </a:effectLst>
        </p:spPr>
      </p:sp>
      <p:sp>
        <p:nvSpPr>
          <p:cNvPr id="19" name="Text 16"/>
          <p:cNvSpPr txBox="1"/>
          <p:nvPr/>
        </p:nvSpPr>
        <p:spPr>
          <a:xfrm>
            <a:off x="841248" y="4773168"/>
            <a:ext cx="105091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D8B8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TERMINAL</a:t>
            </a:r>
            <a:endParaRPr lang="en-US" sz="1150" dirty="0"/>
          </a:p>
        </p:txBody>
      </p:sp>
      <p:sp>
        <p:nvSpPr>
          <p:cNvPr id="20" name="Text 17"/>
          <p:cNvSpPr txBox="1"/>
          <p:nvPr/>
        </p:nvSpPr>
        <p:spPr>
          <a:xfrm>
            <a:off x="841248" y="5084064"/>
            <a:ext cx="10509199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FD9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talk_to_a_book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FD9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-m venv .venv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FD9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.venv\Scripts\activate        # macOS/Linux: source .venv/bin/activate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FD9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-r requirements.txt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FD9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copy .env.example .env        # macOS/Linux: cp .env.example .env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FD9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jupyter notebook talk_to_a_book.ipynb</a:t>
            </a:r>
            <a:endParaRPr lang="en-US" sz="950" dirty="0"/>
          </a:p>
        </p:txBody>
      </p:sp>
      <p:sp>
        <p:nvSpPr>
          <p:cNvPr id="21" name="Text 18"/>
          <p:cNvSpPr txBox="1"/>
          <p:nvPr/>
        </p:nvSpPr>
        <p:spPr>
          <a:xfrm>
            <a:off x="11277295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43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b49800f1-18ed-5a5d-af83-9ac3e3bee131/scratchpad/workshop/assets/parchment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B886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INGREDIENTS LIST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841248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1B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requirements.txt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1517904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43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Eleven packages. Every one earns its place — nothing decorative.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640080" y="2331720"/>
            <a:ext cx="6035040" cy="3749040"/>
          </a:xfrm>
          <a:prstGeom prst="roundRect">
            <a:avLst>
              <a:gd name="adj" fmla="val 2195"/>
            </a:avLst>
          </a:prstGeom>
          <a:solidFill>
            <a:srgbClr val="20130A"/>
          </a:solidFill>
          <a:ln w="15875">
            <a:solidFill>
              <a:srgbClr val="8B6914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0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841248" y="2478024"/>
            <a:ext cx="5632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D8B8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requirements.txt</a:t>
            </a:r>
            <a:endParaRPr lang="en-US" sz="1150" dirty="0"/>
          </a:p>
        </p:txBody>
      </p:sp>
      <p:sp>
        <p:nvSpPr>
          <p:cNvPr id="8" name="Text 5"/>
          <p:cNvSpPr txBox="1"/>
          <p:nvPr/>
        </p:nvSpPr>
        <p:spPr>
          <a:xfrm>
            <a:off x="841248" y="2788920"/>
            <a:ext cx="5632704" cy="3163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EFD9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langchain&gt;=1.4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EFD9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langchain-text-splitters&gt;=1.1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EFD9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langgraph&gt;=1.2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EFD9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langsmith&gt;=0.14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EFD9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langchain-google-genai&gt;=4.4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EFD9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langchain-voyageai&gt;=0.4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EFD9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pypdf&gt;=5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EFD9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python-dotenv&gt;=1.0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EFD9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notebook&gt;=7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EFD9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ipykernel&gt;=6.29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EFD9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numpy&gt;=1.26          # used by the in-memory vector store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7040880" y="2331720"/>
            <a:ext cx="4510735" cy="3749040"/>
          </a:xfrm>
          <a:prstGeom prst="roundRect">
            <a:avLst>
              <a:gd name="adj" fmla="val 2195"/>
            </a:avLst>
          </a:prstGeom>
          <a:solidFill>
            <a:srgbClr val="E9D9AF"/>
          </a:solidFill>
          <a:ln w="12700">
            <a:solidFill>
              <a:srgbClr val="B79A6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22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7296912" y="2532888"/>
            <a:ext cx="399867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E1B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each does</a:t>
            </a:r>
            <a:endParaRPr lang="en-US" sz="1550" dirty="0"/>
          </a:p>
        </p:txBody>
      </p:sp>
      <p:sp>
        <p:nvSpPr>
          <p:cNvPr id="11" name="Text 8"/>
          <p:cNvSpPr txBox="1"/>
          <p:nvPr/>
        </p:nvSpPr>
        <p:spPr>
          <a:xfrm>
            <a:off x="7296912" y="2926080"/>
            <a:ext cx="3998671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5B43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langchain · text splitter · Documents, chat model, tools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5B43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langgraph · the agent graph &amp; checkpointer memory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5B43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langsmith · tracing and evaluation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5B43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-google-genai · Gemini as the chat model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5B43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-voyageai · Voyage embeddings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5B43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pypdf · read novels supplied as .pdf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5B43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python-dotenv · load keys from .env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5B43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notebook, ipykernel · run the .ipynb itself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11277295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43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b49800f1-18ed-5a5d-af83-9ac3e3bee131/scratchpad/workshop/assets/parchment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/tmp/claude-0/-home-claude/b49800f1-18ed-5a5d-af83-9ac3e3bee131/scratchpad/workshop/assets/wax_seal_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2935" y="502920"/>
            <a:ext cx="868680" cy="86868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0682935" y="763524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b="1" dirty="0">
                <a:solidFill>
                  <a:srgbClr val="EFE3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850" dirty="0"/>
          </a:p>
        </p:txBody>
      </p:sp>
      <p:sp>
        <p:nvSpPr>
          <p:cNvPr id="5" name="Text 1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B886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1 · 20 MIN (WITH STEP 2)</a:t>
            </a:r>
            <a:endParaRPr lang="en-US" sz="1300" dirty="0"/>
          </a:p>
        </p:txBody>
      </p:sp>
      <p:sp>
        <p:nvSpPr>
          <p:cNvPr id="6" name="Text 2"/>
          <p:cNvSpPr txBox="1"/>
          <p:nvPr/>
        </p:nvSpPr>
        <p:spPr>
          <a:xfrm>
            <a:off x="640080" y="841248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1B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Load the Book</a:t>
            </a:r>
            <a:endParaRPr lang="en-US" sz="3000" dirty="0"/>
          </a:p>
        </p:txBody>
      </p:sp>
      <p:sp>
        <p:nvSpPr>
          <p:cNvPr id="7" name="Text 3"/>
          <p:cNvSpPr txBox="1"/>
          <p:nvPr/>
        </p:nvSpPr>
        <p:spPr>
          <a:xfrm>
            <a:off x="640080" y="1517904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43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book is just a (long) string. Gutenberg editions wrap the text in a licence, so we trim it.</a:t>
            </a:r>
            <a:endParaRPr lang="en-US" sz="1500" dirty="0"/>
          </a:p>
        </p:txBody>
      </p:sp>
      <p:sp>
        <p:nvSpPr>
          <p:cNvPr id="8" name="Shape 4"/>
          <p:cNvSpPr/>
          <p:nvPr/>
        </p:nvSpPr>
        <p:spPr>
          <a:xfrm>
            <a:off x="640080" y="2331720"/>
            <a:ext cx="10911535" cy="3794760"/>
          </a:xfrm>
          <a:prstGeom prst="roundRect">
            <a:avLst>
              <a:gd name="adj" fmla="val 2169"/>
            </a:avLst>
          </a:prstGeom>
          <a:solidFill>
            <a:srgbClr val="20130A"/>
          </a:solidFill>
          <a:ln w="15875">
            <a:solidFill>
              <a:srgbClr val="8B6914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0000"/>
              </a:srgbClr>
            </a:outerShdw>
          </a:effectLst>
        </p:spPr>
      </p:sp>
      <p:sp>
        <p:nvSpPr>
          <p:cNvPr id="9" name="Text 5"/>
          <p:cNvSpPr txBox="1"/>
          <p:nvPr/>
        </p:nvSpPr>
        <p:spPr>
          <a:xfrm>
            <a:off x="841248" y="2478024"/>
            <a:ext cx="105091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D8B8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load_text()</a:t>
            </a:r>
            <a:endParaRPr lang="en-US" sz="1150" dirty="0"/>
          </a:p>
        </p:txBody>
      </p:sp>
      <p:sp>
        <p:nvSpPr>
          <p:cNvPr id="10" name="Text 6"/>
          <p:cNvSpPr txBox="1"/>
          <p:nvPr/>
        </p:nvSpPr>
        <p:spPr>
          <a:xfrm>
            <a:off x="841248" y="2788920"/>
            <a:ext cx="10509199" cy="3209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FD9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re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FD9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pathlib import Path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FD9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load_text(path: str) -&gt; str: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FD9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path = Path(path)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FD9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path.suffix.lower() == ".pdf":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FD9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from pypdf import PdfReader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FD9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"\n".join(page.extract_text() or ""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FD9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for page in PdfReader(path).pages)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FD9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path.read_text(encoding="utf-8", errors="ignore")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FD9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 = load_text(BOOK_PATH)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FD9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 = re.search(r"\*\*\* ?START OF.*?\*\*\*", text)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FD9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 = re.search(r"\*\*\* ?END OF.*?\*\*\*", text)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FD9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 = text[start.end() if start else 0 : end.start() if end else len(text)]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FD9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print(f"{len(text):,} characters, about {len(text.split()):,} words")</a:t>
            </a:r>
            <a:endParaRPr lang="en-US" sz="1000" dirty="0"/>
          </a:p>
        </p:txBody>
      </p:sp>
      <p:sp>
        <p:nvSpPr>
          <p:cNvPr id="11" name="Text 7"/>
          <p:cNvSpPr txBox="1"/>
          <p:nvPr/>
        </p:nvSpPr>
        <p:spPr>
          <a:xfrm>
            <a:off x="11277295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43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b49800f1-18ed-5a5d-af83-9ac3e3bee131/scratchpad/workshop/assets/parchment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/tmp/claude-0/-home-claude/b49800f1-18ed-5a5d-af83-9ac3e3bee131/scratchpad/workshop/assets/wax_seal_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2935" y="502920"/>
            <a:ext cx="868680" cy="86868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0682935" y="763524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b="1" dirty="0">
                <a:solidFill>
                  <a:srgbClr val="EFE3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850" dirty="0"/>
          </a:p>
        </p:txBody>
      </p:sp>
      <p:sp>
        <p:nvSpPr>
          <p:cNvPr id="5" name="Text 1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B886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2 · PART OF THE FIRST 20 MIN</a:t>
            </a:r>
            <a:endParaRPr lang="en-US" sz="1300" dirty="0"/>
          </a:p>
        </p:txBody>
      </p:sp>
      <p:sp>
        <p:nvSpPr>
          <p:cNvPr id="6" name="Text 2"/>
          <p:cNvSpPr txBox="1"/>
          <p:nvPr/>
        </p:nvSpPr>
        <p:spPr>
          <a:xfrm>
            <a:off x="640080" y="841248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1B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Split Into Chapters, Then Chunks</a:t>
            </a:r>
            <a:endParaRPr lang="en-US" sz="3000" dirty="0"/>
          </a:p>
        </p:txBody>
      </p:sp>
      <p:sp>
        <p:nvSpPr>
          <p:cNvPr id="7" name="Text 3"/>
          <p:cNvSpPr txBox="1"/>
          <p:nvPr/>
        </p:nvSpPr>
        <p:spPr>
          <a:xfrm>
            <a:off x="640080" y="1517904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43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Chapters let the agent cite [Ch. 12]. Chunks let it search without reading the whole novel each time.</a:t>
            </a:r>
            <a:endParaRPr lang="en-US" sz="1500" dirty="0"/>
          </a:p>
        </p:txBody>
      </p:sp>
      <p:sp>
        <p:nvSpPr>
          <p:cNvPr id="8" name="Shape 4"/>
          <p:cNvSpPr/>
          <p:nvPr/>
        </p:nvSpPr>
        <p:spPr>
          <a:xfrm>
            <a:off x="640080" y="2331720"/>
            <a:ext cx="5272888" cy="3794760"/>
          </a:xfrm>
          <a:prstGeom prst="roundRect">
            <a:avLst>
              <a:gd name="adj" fmla="val 2169"/>
            </a:avLst>
          </a:prstGeom>
          <a:solidFill>
            <a:srgbClr val="20130A"/>
          </a:solidFill>
          <a:ln w="15875">
            <a:solidFill>
              <a:srgbClr val="8B6914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0000"/>
              </a:srgbClr>
            </a:outerShdw>
          </a:effectLst>
        </p:spPr>
      </p:sp>
      <p:sp>
        <p:nvSpPr>
          <p:cNvPr id="9" name="Text 5"/>
          <p:cNvSpPr txBox="1"/>
          <p:nvPr/>
        </p:nvSpPr>
        <p:spPr>
          <a:xfrm>
            <a:off x="841248" y="2478024"/>
            <a:ext cx="4870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D8B8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Chapters</a:t>
            </a:r>
            <a:endParaRPr lang="en-US" sz="1150" dirty="0"/>
          </a:p>
        </p:txBody>
      </p:sp>
      <p:sp>
        <p:nvSpPr>
          <p:cNvPr id="10" name="Text 6"/>
          <p:cNvSpPr txBox="1"/>
          <p:nvPr/>
        </p:nvSpPr>
        <p:spPr>
          <a:xfrm>
            <a:off x="841248" y="2788920"/>
            <a:ext cx="4870552" cy="3209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FD9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CHAPTER_PATTERN = (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FD9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r"^\s*(?:CHAPTER|Chapter)\s+[0-9IVXLC]+\b.*$"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FD9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FD9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parts = re.split(CHAPTER_PATTERN, text,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FD9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flags=re.MULTILINE)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FD9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chapters = [p.strip() for p in parts[1:]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FD9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if len(p.split()) &gt; 100]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FD9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chapters = [re.sub(r"\[Illustration.*?\]\]?",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FD9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"", ch, flags=re.DOTALL)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FD9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for ch in chapters]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FD9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not chapters: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FD9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chapters = [text]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FD9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print(f"Found {len(chapters)} chapters")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FD9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Pride and Prejudice → 61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6278728" y="2331720"/>
            <a:ext cx="5272888" cy="3794760"/>
          </a:xfrm>
          <a:prstGeom prst="roundRect">
            <a:avLst>
              <a:gd name="adj" fmla="val 2169"/>
            </a:avLst>
          </a:prstGeom>
          <a:solidFill>
            <a:srgbClr val="20130A"/>
          </a:solidFill>
          <a:ln w="15875">
            <a:solidFill>
              <a:srgbClr val="8B6914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0000"/>
              </a:srgbClr>
            </a:outerShdw>
          </a:effectLst>
        </p:spPr>
      </p:sp>
      <p:sp>
        <p:nvSpPr>
          <p:cNvPr id="12" name="Text 8"/>
          <p:cNvSpPr txBox="1"/>
          <p:nvPr/>
        </p:nvSpPr>
        <p:spPr>
          <a:xfrm>
            <a:off x="6479896" y="2478024"/>
            <a:ext cx="4870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D8B8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Chunks</a:t>
            </a:r>
            <a:endParaRPr lang="en-US" sz="1150" dirty="0"/>
          </a:p>
        </p:txBody>
      </p:sp>
      <p:sp>
        <p:nvSpPr>
          <p:cNvPr id="13" name="Text 9"/>
          <p:cNvSpPr txBox="1"/>
          <p:nvPr/>
        </p:nvSpPr>
        <p:spPr>
          <a:xfrm>
            <a:off x="6479896" y="2788920"/>
            <a:ext cx="4870552" cy="3209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FD9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langchain_text_splitters import (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FD9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RecursiveCharacterTextSplitter,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FD9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FD9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splitter = RecursiveCharacterTextSplitter(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FD9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chunk_size=1200, chunk_overlap=200,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FD9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FD9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 = splitter.create_documents(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FD9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chapters,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FD9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metadatas=[{"chapter": n}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FD9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for n in range(1, len(chapters)+1)],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FD9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FD9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print(f"{len(docs)} chunks")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FD9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✏️ try chunk_size=400, then 4000 —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FD9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 small = precise but narrow,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FD9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 big = more context but blurrier</a:t>
            </a:r>
            <a:endParaRPr lang="en-US" sz="1050" dirty="0"/>
          </a:p>
        </p:txBody>
      </p:sp>
      <p:sp>
        <p:nvSpPr>
          <p:cNvPr id="14" name="Text 10"/>
          <p:cNvSpPr txBox="1"/>
          <p:nvPr/>
        </p:nvSpPr>
        <p:spPr>
          <a:xfrm>
            <a:off x="11277295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43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b49800f1-18ed-5a5d-af83-9ac3e3bee131/scratchpad/workshop/assets/parchment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/tmp/claude-0/-home-claude/b49800f1-18ed-5a5d-af83-9ac3e3bee131/scratchpad/workshop/assets/wax_seal_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2935" y="502920"/>
            <a:ext cx="868680" cy="86868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0682935" y="763524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b="1" dirty="0">
                <a:solidFill>
                  <a:srgbClr val="EFE3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850" dirty="0"/>
          </a:p>
        </p:txBody>
      </p:sp>
      <p:sp>
        <p:nvSpPr>
          <p:cNvPr id="5" name="Text 1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B886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3 · 15 MIN, PLUS ~20 QUIET MINUTES</a:t>
            </a:r>
            <a:endParaRPr lang="en-US" sz="1300" dirty="0"/>
          </a:p>
        </p:txBody>
      </p:sp>
      <p:sp>
        <p:nvSpPr>
          <p:cNvPr id="6" name="Text 2"/>
          <p:cNvSpPr txBox="1"/>
          <p:nvPr/>
        </p:nvSpPr>
        <p:spPr>
          <a:xfrm>
            <a:off x="640080" y="841248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1B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Embeddings &amp; a Vector Store</a:t>
            </a:r>
            <a:endParaRPr lang="en-US" sz="3000" dirty="0"/>
          </a:p>
        </p:txBody>
      </p:sp>
      <p:sp>
        <p:nvSpPr>
          <p:cNvPr id="7" name="Text 3"/>
          <p:cNvSpPr txBox="1"/>
          <p:nvPr/>
        </p:nvSpPr>
        <p:spPr>
          <a:xfrm>
            <a:off x="640080" y="1517904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43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 embedding turns text into a vector, so similar meanings land near each other. That's the “R” in RAG.</a:t>
            </a:r>
            <a:endParaRPr lang="en-US" sz="1500" dirty="0"/>
          </a:p>
        </p:txBody>
      </p:sp>
      <p:sp>
        <p:nvSpPr>
          <p:cNvPr id="8" name="Shape 4"/>
          <p:cNvSpPr/>
          <p:nvPr/>
        </p:nvSpPr>
        <p:spPr>
          <a:xfrm>
            <a:off x="640080" y="2057400"/>
            <a:ext cx="10911535" cy="3794760"/>
          </a:xfrm>
          <a:prstGeom prst="roundRect">
            <a:avLst>
              <a:gd name="adj" fmla="val 2169"/>
            </a:avLst>
          </a:prstGeom>
          <a:solidFill>
            <a:srgbClr val="20130A"/>
          </a:solidFill>
          <a:ln w="15875">
            <a:solidFill>
              <a:srgbClr val="8B6914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0000"/>
              </a:srgbClr>
            </a:outerShdw>
          </a:effectLst>
        </p:spPr>
      </p:sp>
      <p:sp>
        <p:nvSpPr>
          <p:cNvPr id="9" name="Text 5"/>
          <p:cNvSpPr txBox="1"/>
          <p:nvPr/>
        </p:nvSpPr>
        <p:spPr>
          <a:xfrm>
            <a:off x="841248" y="2203704"/>
            <a:ext cx="105091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D8B8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Embeddings + vector store (resumable)</a:t>
            </a:r>
            <a:endParaRPr lang="en-US" sz="1150" dirty="0"/>
          </a:p>
        </p:txBody>
      </p:sp>
      <p:sp>
        <p:nvSpPr>
          <p:cNvPr id="10" name="Text 6"/>
          <p:cNvSpPr txBox="1"/>
          <p:nvPr/>
        </p:nvSpPr>
        <p:spPr>
          <a:xfrm>
            <a:off x="841248" y="2514600"/>
            <a:ext cx="10509199" cy="3209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FD9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langchain_core.vectorstores import InMemoryVectorStore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FD9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voyage_free_tier import FreeTierVoyageEmbeddings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FD9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embeddings = FreeTierVoyageEmbeddings(model=EMBEDDING_MODEL)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FD9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number, doc in enumerate(docs):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FD9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doc.id = f"chunk-{number}"        # stable ids so a run can resume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FD9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index_file = Path("index") / f"{Path(BOOK_PATH).stem}.json"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FD9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index_file.exists():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FD9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vector_store = InMemoryVectorStore.load(str(index_file), embeddings)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FD9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else: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FD9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vector_store = InMemoryVectorStore(embeddings)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FD9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todo = [doc for doc in docs if doc.id not in vector_store.store]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FD9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batch in embeddings.batches(todo):     # respects 3 req/min, 10K tok/min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FD9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vector_store.add_documents(batch)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FD9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vector_store.dump(str(index_file))     # progress saved after every request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FD9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print("Index ready:", index_file)</a:t>
            </a:r>
            <a:endParaRPr lang="en-US" sz="950" dirty="0"/>
          </a:p>
        </p:txBody>
      </p:sp>
      <p:sp>
        <p:nvSpPr>
          <p:cNvPr id="11" name="Shape 7"/>
          <p:cNvSpPr/>
          <p:nvPr/>
        </p:nvSpPr>
        <p:spPr>
          <a:xfrm>
            <a:off x="640080" y="5943600"/>
            <a:ext cx="10911535" cy="411480"/>
          </a:xfrm>
          <a:prstGeom prst="roundRect">
            <a:avLst>
              <a:gd name="adj" fmla="val 20000"/>
            </a:avLst>
          </a:prstGeom>
          <a:solidFill>
            <a:srgbClr val="E9D9AF"/>
          </a:solidFill>
          <a:ln w="12700">
            <a:solidFill>
              <a:srgbClr val="B79A6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22000"/>
              </a:srgbClr>
            </a:outerShdw>
          </a:effectLst>
        </p:spPr>
      </p:sp>
      <p:sp>
        <p:nvSpPr>
          <p:cNvPr id="12" name="Text 8"/>
          <p:cNvSpPr txBox="1"/>
          <p:nvPr/>
        </p:nvSpPr>
        <p:spPr>
          <a:xfrm>
            <a:off x="868680" y="5943600"/>
            <a:ext cx="104543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43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🕯️  Free tier, free of charge: about 20 minutes, once. Progress saves after every request, so stopping and re-running simply resumes.</a:t>
            </a:r>
            <a:endParaRPr lang="en-US" sz="1150" dirty="0"/>
          </a:p>
        </p:txBody>
      </p:sp>
      <p:sp>
        <p:nvSpPr>
          <p:cNvPr id="13" name="Text 9"/>
          <p:cNvSpPr txBox="1"/>
          <p:nvPr/>
        </p:nvSpPr>
        <p:spPr>
          <a:xfrm>
            <a:off x="11277295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43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b49800f1-18ed-5a5d-af83-9ac3e3bee131/scratchpad/workshop/assets/parchment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/tmp/claude-0/-home-claude/b49800f1-18ed-5a5d-af83-9ac3e3bee131/scratchpad/workshop/assets/wax_seal_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2935" y="502920"/>
            <a:ext cx="868680" cy="86868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0682935" y="763524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b="1" dirty="0">
                <a:solidFill>
                  <a:srgbClr val="EFE3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850" dirty="0"/>
          </a:p>
        </p:txBody>
      </p:sp>
      <p:sp>
        <p:nvSpPr>
          <p:cNvPr id="5" name="Text 1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B886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STEPS 4–5 · 15 MIN</a:t>
            </a:r>
            <a:endParaRPr lang="en-US" sz="1300" dirty="0"/>
          </a:p>
        </p:txBody>
      </p:sp>
      <p:sp>
        <p:nvSpPr>
          <p:cNvPr id="6" name="Text 2"/>
          <p:cNvSpPr txBox="1"/>
          <p:nvPr/>
        </p:nvSpPr>
        <p:spPr>
          <a:xfrm>
            <a:off x="640080" y="841248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1B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Tools, and the Chat Model</a:t>
            </a:r>
            <a:endParaRPr lang="en-US" sz="3000" dirty="0"/>
          </a:p>
        </p:txBody>
      </p:sp>
      <p:sp>
        <p:nvSpPr>
          <p:cNvPr id="7" name="Text 3"/>
          <p:cNvSpPr txBox="1"/>
          <p:nvPr/>
        </p:nvSpPr>
        <p:spPr>
          <a:xfrm>
            <a:off x="640080" y="1517904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43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tool is a normal Python function the LLM may call — the docstring is its instruction manual.</a:t>
            </a:r>
            <a:endParaRPr lang="en-US" sz="1500" dirty="0"/>
          </a:p>
        </p:txBody>
      </p:sp>
      <p:sp>
        <p:nvSpPr>
          <p:cNvPr id="8" name="Shape 4"/>
          <p:cNvSpPr/>
          <p:nvPr/>
        </p:nvSpPr>
        <p:spPr>
          <a:xfrm>
            <a:off x="640080" y="2331720"/>
            <a:ext cx="5272888" cy="3794760"/>
          </a:xfrm>
          <a:prstGeom prst="roundRect">
            <a:avLst>
              <a:gd name="adj" fmla="val 2169"/>
            </a:avLst>
          </a:prstGeom>
          <a:solidFill>
            <a:srgbClr val="20130A"/>
          </a:solidFill>
          <a:ln w="15875">
            <a:solidFill>
              <a:srgbClr val="8B6914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0000"/>
              </a:srgbClr>
            </a:outerShdw>
          </a:effectLst>
        </p:spPr>
      </p:sp>
      <p:sp>
        <p:nvSpPr>
          <p:cNvPr id="9" name="Text 5"/>
          <p:cNvSpPr txBox="1"/>
          <p:nvPr/>
        </p:nvSpPr>
        <p:spPr>
          <a:xfrm>
            <a:off x="841248" y="2478024"/>
            <a:ext cx="4870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D8B8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search_book · read_chapter</a:t>
            </a:r>
            <a:endParaRPr lang="en-US" sz="1150" dirty="0"/>
          </a:p>
        </p:txBody>
      </p:sp>
      <p:sp>
        <p:nvSpPr>
          <p:cNvPr id="10" name="Text 6"/>
          <p:cNvSpPr txBox="1"/>
          <p:nvPr/>
        </p:nvSpPr>
        <p:spPr>
          <a:xfrm>
            <a:off x="841248" y="2788920"/>
            <a:ext cx="4870552" cy="3209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EFD9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langchain_core.tools import tool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EFD9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@tool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EFD9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search_book(query: str) -&gt; str: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EFD9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"""Search the novel; returns the 6 most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EFD9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relevant passages, labelled by chapter."""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EFD9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results = vector_store.similarity_search(query, k=6)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EFD9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results.sort(key=lambda d: d.metadata["chapter"])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EFD9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"\n\n".join(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EFD9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f"[Ch {d.metadata['chapter']}] {d.page_content}"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EFD9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d in results)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EFD9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@tool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EFD9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read_chapter(chapter: int) -&gt; str: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EFD9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"""Return the full text of one chapter."""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EFD9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not 1 &lt;= chapter &lt;= len(chapters):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EFD9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f"No chapter {chapter}."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EFD9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chapters[chapter - 1]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EFD9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tools = [search_book, read_chapter]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6278728" y="2331720"/>
            <a:ext cx="5272888" cy="3794760"/>
          </a:xfrm>
          <a:prstGeom prst="roundRect">
            <a:avLst>
              <a:gd name="adj" fmla="val 2169"/>
            </a:avLst>
          </a:prstGeom>
          <a:solidFill>
            <a:srgbClr val="20130A"/>
          </a:solidFill>
          <a:ln w="15875">
            <a:solidFill>
              <a:srgbClr val="8B6914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0000"/>
              </a:srgbClr>
            </a:outerShdw>
          </a:effectLst>
        </p:spPr>
      </p:sp>
      <p:sp>
        <p:nvSpPr>
          <p:cNvPr id="12" name="Text 8"/>
          <p:cNvSpPr txBox="1"/>
          <p:nvPr/>
        </p:nvSpPr>
        <p:spPr>
          <a:xfrm>
            <a:off x="6479896" y="2478024"/>
            <a:ext cx="4870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D8B8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chat model</a:t>
            </a:r>
            <a:endParaRPr lang="en-US" sz="1150" dirty="0"/>
          </a:p>
        </p:txBody>
      </p:sp>
      <p:sp>
        <p:nvSpPr>
          <p:cNvPr id="13" name="Text 9"/>
          <p:cNvSpPr txBox="1"/>
          <p:nvPr/>
        </p:nvSpPr>
        <p:spPr>
          <a:xfrm>
            <a:off x="6479896" y="2788920"/>
            <a:ext cx="4870552" cy="3209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FD9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langchain.chat_models import init_chat_model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FD9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llm = init_chat_model(CHAT_MODEL)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FD9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llm_with_tools = llm.bind_tools(tools)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FD9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print(llm.invoke(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FD9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"In one sentence: what is a novel?"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FD9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).text)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FD9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"provider:model" — swapping Gemini for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FD9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another provider is a one-line change.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FD9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bind_tools tells the model which tools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FD9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exist; it decides itself when to call them.</a:t>
            </a:r>
            <a:endParaRPr lang="en-US" sz="1250" dirty="0"/>
          </a:p>
        </p:txBody>
      </p:sp>
      <p:sp>
        <p:nvSpPr>
          <p:cNvPr id="14" name="Text 10"/>
          <p:cNvSpPr txBox="1"/>
          <p:nvPr/>
        </p:nvSpPr>
        <p:spPr>
          <a:xfrm>
            <a:off x="11277295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43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b49800f1-18ed-5a5d-af83-9ac3e3bee131/scratchpad/workshop/assets/parchment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/tmp/claude-0/-home-claude/b49800f1-18ed-5a5d-af83-9ac3e3bee131/scratchpad/workshop/assets/wax_seal_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2935" y="502920"/>
            <a:ext cx="868680" cy="86868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0682935" y="763524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b="1" dirty="0">
                <a:solidFill>
                  <a:srgbClr val="EFE3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850" dirty="0"/>
          </a:p>
        </p:txBody>
      </p:sp>
      <p:sp>
        <p:nvSpPr>
          <p:cNvPr id="5" name="Text 1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B886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6 · 20 MIN</a:t>
            </a:r>
            <a:endParaRPr lang="en-US" sz="1300" dirty="0"/>
          </a:p>
        </p:txBody>
      </p:sp>
      <p:sp>
        <p:nvSpPr>
          <p:cNvPr id="6" name="Text 2"/>
          <p:cNvSpPr txBox="1"/>
          <p:nvPr/>
        </p:nvSpPr>
        <p:spPr>
          <a:xfrm>
            <a:off x="640080" y="841248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1B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the Agent With LangGraph</a:t>
            </a:r>
            <a:endParaRPr lang="en-US" sz="3000" dirty="0"/>
          </a:p>
        </p:txBody>
      </p:sp>
      <p:sp>
        <p:nvSpPr>
          <p:cNvPr id="7" name="Text 3"/>
          <p:cNvSpPr txBox="1"/>
          <p:nvPr/>
        </p:nvSpPr>
        <p:spPr>
          <a:xfrm>
            <a:off x="640080" y="1517904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43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 agent is a loop: think → maybe use a tool → look at the result → think again → … → answer.</a:t>
            </a:r>
            <a:endParaRPr lang="en-US" sz="1500" dirty="0"/>
          </a:p>
        </p:txBody>
      </p:sp>
      <p:sp>
        <p:nvSpPr>
          <p:cNvPr id="8" name="Shape 4"/>
          <p:cNvSpPr/>
          <p:nvPr/>
        </p:nvSpPr>
        <p:spPr>
          <a:xfrm>
            <a:off x="640080" y="2331720"/>
            <a:ext cx="4572000" cy="3794760"/>
          </a:xfrm>
          <a:prstGeom prst="roundRect">
            <a:avLst>
              <a:gd name="adj" fmla="val 2169"/>
            </a:avLst>
          </a:prstGeom>
          <a:solidFill>
            <a:srgbClr val="E9D9AF"/>
          </a:solidFill>
          <a:ln w="12700">
            <a:solidFill>
              <a:srgbClr val="B79A6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22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2057400" y="2834640"/>
            <a:ext cx="1737360" cy="777240"/>
          </a:xfrm>
          <a:prstGeom prst="roundRect">
            <a:avLst>
              <a:gd name="adj" fmla="val 11765"/>
            </a:avLst>
          </a:prstGeom>
          <a:solidFill>
            <a:srgbClr val="241509"/>
          </a:solidFill>
          <a:ln w="15875">
            <a:solidFill>
              <a:srgbClr val="B8860B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2057400" y="283464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FE3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EFE3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(Gemini)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2057400" y="4846320"/>
            <a:ext cx="1737360" cy="777240"/>
          </a:xfrm>
          <a:prstGeom prst="roundRect">
            <a:avLst>
              <a:gd name="adj" fmla="val 11765"/>
            </a:avLst>
          </a:prstGeom>
          <a:solidFill>
            <a:srgbClr val="241509"/>
          </a:solidFill>
          <a:ln w="15875">
            <a:solidFill>
              <a:srgbClr val="B8860B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2057400" y="484632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FE3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EFE3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(ToolNode)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3308299" y="3611880"/>
            <a:ext cx="0" cy="1234440"/>
          </a:xfrm>
          <a:prstGeom prst="line">
            <a:avLst/>
          </a:prstGeom>
          <a:noFill/>
          <a:ln w="22225">
            <a:solidFill>
              <a:srgbClr val="B8860B"/>
            </a:solidFill>
            <a:prstDash val="solid"/>
            <a:tailEnd type="triangle"/>
          </a:ln>
        </p:spPr>
      </p:sp>
      <p:sp>
        <p:nvSpPr>
          <p:cNvPr id="14" name="Shape 10"/>
          <p:cNvSpPr/>
          <p:nvPr/>
        </p:nvSpPr>
        <p:spPr>
          <a:xfrm>
            <a:off x="2543861" y="4846320"/>
            <a:ext cx="0" cy="-1234440"/>
          </a:xfrm>
          <a:prstGeom prst="line">
            <a:avLst/>
          </a:prstGeom>
          <a:noFill/>
          <a:ln w="22225">
            <a:solidFill>
              <a:srgbClr val="B8860B"/>
            </a:solidFill>
            <a:prstDash val="solid"/>
            <a:tailEnd type="triangle"/>
          </a:ln>
        </p:spPr>
      </p:sp>
      <p:sp>
        <p:nvSpPr>
          <p:cNvPr id="15" name="Text 11"/>
          <p:cNvSpPr txBox="1"/>
          <p:nvPr/>
        </p:nvSpPr>
        <p:spPr>
          <a:xfrm>
            <a:off x="3794760" y="3657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43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tool call requested</a:t>
            </a:r>
            <a:endParaRPr lang="en-US" sz="1000" dirty="0"/>
          </a:p>
        </p:txBody>
      </p:sp>
      <p:sp>
        <p:nvSpPr>
          <p:cNvPr id="16" name="Text 12"/>
          <p:cNvSpPr txBox="1"/>
          <p:nvPr/>
        </p:nvSpPr>
        <p:spPr>
          <a:xfrm>
            <a:off x="3794760" y="44988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43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result → think again</a:t>
            </a:r>
            <a:endParaRPr lang="en-US" sz="1000" dirty="0"/>
          </a:p>
        </p:txBody>
      </p:sp>
      <p:sp>
        <p:nvSpPr>
          <p:cNvPr id="17" name="Text 13"/>
          <p:cNvSpPr txBox="1"/>
          <p:nvPr/>
        </p:nvSpPr>
        <p:spPr>
          <a:xfrm>
            <a:off x="777240" y="30861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1C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</a:t>
            </a:r>
            <a:endParaRPr lang="en-US" sz="1100" dirty="0"/>
          </a:p>
        </p:txBody>
      </p:sp>
      <p:sp>
        <p:nvSpPr>
          <p:cNvPr id="18" name="Text 14"/>
          <p:cNvSpPr txBox="1"/>
          <p:nvPr/>
        </p:nvSpPr>
        <p:spPr>
          <a:xfrm>
            <a:off x="3657600" y="38404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5B43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 tool call</a:t>
            </a:r>
            <a:endParaRPr lang="en-US" sz="1000" dirty="0"/>
          </a:p>
          <a:p>
            <a:pPr algn="r" indent="0" marL="0">
              <a:buNone/>
            </a:pPr>
            <a:r>
              <a:rPr lang="en-US" sz="1000" i="1" dirty="0">
                <a:solidFill>
                  <a:srgbClr val="5B43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→ END (answer)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5486400" y="2331720"/>
            <a:ext cx="6065215" cy="3794760"/>
          </a:xfrm>
          <a:prstGeom prst="roundRect">
            <a:avLst>
              <a:gd name="adj" fmla="val 2169"/>
            </a:avLst>
          </a:prstGeom>
          <a:solidFill>
            <a:srgbClr val="20130A"/>
          </a:solidFill>
          <a:ln w="15875">
            <a:solidFill>
              <a:srgbClr val="8B6914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0000"/>
              </a:srgbClr>
            </a:outerShdw>
          </a:effectLst>
        </p:spPr>
      </p:sp>
      <p:sp>
        <p:nvSpPr>
          <p:cNvPr id="20" name="Text 16"/>
          <p:cNvSpPr txBox="1"/>
          <p:nvPr/>
        </p:nvSpPr>
        <p:spPr>
          <a:xfrm>
            <a:off x="5687568" y="2478024"/>
            <a:ext cx="56628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D8B8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graph</a:t>
            </a:r>
            <a:endParaRPr lang="en-US" sz="1150" dirty="0"/>
          </a:p>
        </p:txBody>
      </p:sp>
      <p:sp>
        <p:nvSpPr>
          <p:cNvPr id="21" name="Text 17"/>
          <p:cNvSpPr txBox="1"/>
          <p:nvPr/>
        </p:nvSpPr>
        <p:spPr>
          <a:xfrm>
            <a:off x="5687568" y="2788920"/>
            <a:ext cx="5662879" cy="3209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FD9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agent(state: MessagesState):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FD9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response = llm_with_tools.invoke(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FD9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[SystemMessage(SYSTEM_PROMPT)] +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FD9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state["messages"])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FD9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{"messages": [response]}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FD9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builder = StateGraph(MessagesState)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FD9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builder.add_node("agent", agent)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FD9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builder.add_node("tools", ToolNode(tools))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FD9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builder.add_edge(START, "agent")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FD9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builder.add_conditional_edges(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FD9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"agent", tools_condition)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FD9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builder.add_edge("tools", "agent")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FD9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graph = builder.compile(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FD9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checkpointer=InMemorySaver())   # &lt;- memory</a:t>
            </a:r>
            <a:endParaRPr lang="en-US" sz="1150" dirty="0"/>
          </a:p>
        </p:txBody>
      </p:sp>
      <p:sp>
        <p:nvSpPr>
          <p:cNvPr id="22" name="Text 18"/>
          <p:cNvSpPr txBox="1"/>
          <p:nvPr/>
        </p:nvSpPr>
        <p:spPr>
          <a:xfrm>
            <a:off x="11277295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43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b49800f1-18ed-5a5d-af83-9ac3e3bee131/scratchpad/workshop/assets/parchment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/tmp/claude-0/-home-claude/b49800f1-18ed-5a5d-af83-9ac3e3bee131/scratchpad/workshop/assets/wax_seal_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2935" y="502920"/>
            <a:ext cx="868680" cy="86868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0682935" y="763524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b="1" dirty="0">
                <a:solidFill>
                  <a:srgbClr val="EFE3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850" dirty="0"/>
          </a:p>
        </p:txBody>
      </p:sp>
      <p:sp>
        <p:nvSpPr>
          <p:cNvPr id="5" name="Text 1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B886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7 · 15 MIN</a:t>
            </a:r>
            <a:endParaRPr lang="en-US" sz="1300" dirty="0"/>
          </a:p>
        </p:txBody>
      </p:sp>
      <p:sp>
        <p:nvSpPr>
          <p:cNvPr id="6" name="Text 2"/>
          <p:cNvSpPr txBox="1"/>
          <p:nvPr/>
        </p:nvSpPr>
        <p:spPr>
          <a:xfrm>
            <a:off x="640080" y="841248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1B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Chat With the Book, With Memory</a:t>
            </a:r>
            <a:endParaRPr lang="en-US" sz="3000" dirty="0"/>
          </a:p>
        </p:txBody>
      </p:sp>
      <p:sp>
        <p:nvSpPr>
          <p:cNvPr id="7" name="Text 3"/>
          <p:cNvSpPr txBox="1"/>
          <p:nvPr/>
        </p:nvSpPr>
        <p:spPr>
          <a:xfrm>
            <a:off x="640080" y="1517904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43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Same thread_id = the agent remembers. A different one = a stranger who's read the same book.</a:t>
            </a:r>
            <a:endParaRPr lang="en-US" sz="1500" dirty="0"/>
          </a:p>
        </p:txBody>
      </p:sp>
      <p:sp>
        <p:nvSpPr>
          <p:cNvPr id="8" name="Shape 4"/>
          <p:cNvSpPr/>
          <p:nvPr/>
        </p:nvSpPr>
        <p:spPr>
          <a:xfrm>
            <a:off x="640080" y="2331720"/>
            <a:ext cx="5943600" cy="3794760"/>
          </a:xfrm>
          <a:prstGeom prst="roundRect">
            <a:avLst>
              <a:gd name="adj" fmla="val 2169"/>
            </a:avLst>
          </a:prstGeom>
          <a:solidFill>
            <a:srgbClr val="20130A"/>
          </a:solidFill>
          <a:ln w="15875">
            <a:solidFill>
              <a:srgbClr val="8B6914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0000"/>
              </a:srgbClr>
            </a:outerShdw>
          </a:effectLst>
        </p:spPr>
      </p:sp>
      <p:sp>
        <p:nvSpPr>
          <p:cNvPr id="9" name="Text 5"/>
          <p:cNvSpPr txBox="1"/>
          <p:nvPr/>
        </p:nvSpPr>
        <p:spPr>
          <a:xfrm>
            <a:off x="841248" y="2478024"/>
            <a:ext cx="5541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D8B8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ask()</a:t>
            </a:r>
            <a:endParaRPr lang="en-US" sz="1150" dirty="0"/>
          </a:p>
        </p:txBody>
      </p:sp>
      <p:sp>
        <p:nvSpPr>
          <p:cNvPr id="10" name="Text 6"/>
          <p:cNvSpPr txBox="1"/>
          <p:nvPr/>
        </p:nvSpPr>
        <p:spPr>
          <a:xfrm>
            <a:off x="841248" y="2788920"/>
            <a:ext cx="5541264" cy="3209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FD9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@traceable(name="ask_the_book")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FD9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ask(question, thread_id="reader-1"):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FD9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config = {"configurable": {"thread_id": thread_id},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FD9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"recursion_limit": 20}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FD9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step in graph.stream(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FD9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{"messages": [("user", question)]},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FD9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config, stream_mode="updates"):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FD9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node, update in step.items():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FD9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if node != "agent":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FD9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continue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FD9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message = update["messages"][-1]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FD9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for call in message.tool_calls: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FD9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print(f"  🔧 {call['name']}({call['args']})")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FD9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if not message.tool_calls: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FD9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display(Markdown(message.text))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6949440" y="2331720"/>
            <a:ext cx="4602175" cy="3794760"/>
          </a:xfrm>
          <a:prstGeom prst="roundRect">
            <a:avLst>
              <a:gd name="adj" fmla="val 2169"/>
            </a:avLst>
          </a:prstGeom>
          <a:solidFill>
            <a:srgbClr val="E9D9AF"/>
          </a:solidFill>
          <a:ln w="12700">
            <a:solidFill>
              <a:srgbClr val="B79A6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22000"/>
              </a:srgbClr>
            </a:outerShdw>
          </a:effectLst>
        </p:spPr>
      </p:sp>
      <p:sp>
        <p:nvSpPr>
          <p:cNvPr id="12" name="Text 8"/>
          <p:cNvSpPr txBox="1"/>
          <p:nvPr/>
        </p:nvSpPr>
        <p:spPr>
          <a:xfrm>
            <a:off x="7178040" y="2514600"/>
            <a:ext cx="41449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A1C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reader-1</a:t>
            </a:r>
            <a:endParaRPr lang="en-US" sz="1150" dirty="0"/>
          </a:p>
        </p:txBody>
      </p:sp>
      <p:sp>
        <p:nvSpPr>
          <p:cNvPr id="13" name="Text 9"/>
          <p:cNvSpPr txBox="1"/>
          <p:nvPr/>
        </p:nvSpPr>
        <p:spPr>
          <a:xfrm>
            <a:off x="7178040" y="2834640"/>
            <a:ext cx="414497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i="1" dirty="0">
                <a:solidFill>
                  <a:srgbClr val="5B43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“How does Elizabeth's opinion of him change?”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i="1" dirty="0">
                <a:solidFill>
                  <a:srgbClr val="5B43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🔧 search_book(…)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i="1" dirty="0">
                <a:solidFill>
                  <a:srgbClr val="5B43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→ a grounded, cited answer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i="1" dirty="0">
                <a:solidFill>
                  <a:srgbClr val="5B43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“What was the turning point for her?”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i="1" dirty="0">
                <a:solidFill>
                  <a:srgbClr val="5B43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(“her” only makes sense with memory)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i="1" dirty="0">
                <a:solidFill>
                  <a:srgbClr val="5B43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→ continues the same thread</a:t>
            </a:r>
            <a:endParaRPr lang="en-US" sz="1150" dirty="0"/>
          </a:p>
        </p:txBody>
      </p:sp>
      <p:sp>
        <p:nvSpPr>
          <p:cNvPr id="14" name="Text 10"/>
          <p:cNvSpPr txBox="1"/>
          <p:nvPr/>
        </p:nvSpPr>
        <p:spPr>
          <a:xfrm>
            <a:off x="7178040" y="4709160"/>
            <a:ext cx="41449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A1C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someone-else</a:t>
            </a:r>
            <a:endParaRPr lang="en-US" sz="1150" dirty="0"/>
          </a:p>
        </p:txBody>
      </p:sp>
      <p:sp>
        <p:nvSpPr>
          <p:cNvPr id="15" name="Text 11"/>
          <p:cNvSpPr txBox="1"/>
          <p:nvPr/>
        </p:nvSpPr>
        <p:spPr>
          <a:xfrm>
            <a:off x="7178040" y="5029200"/>
            <a:ext cx="414497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B43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Same follow-up, new thread_id → the agent has no idea what “her” means. A fresh thread is a stranger to the conversation, not to the book.</a:t>
            </a:r>
            <a:endParaRPr lang="en-US" sz="1150" dirty="0"/>
          </a:p>
        </p:txBody>
      </p:sp>
      <p:sp>
        <p:nvSpPr>
          <p:cNvPr id="16" name="Text 12"/>
          <p:cNvSpPr txBox="1"/>
          <p:nvPr/>
        </p:nvSpPr>
        <p:spPr>
          <a:xfrm>
            <a:off x="11277295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43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b49800f1-18ed-5a5d-af83-9ac3e3bee131/scratchpad/workshop/assets/parchment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/tmp/claude-0/-home-claude/b49800f1-18ed-5a5d-af83-9ac3e3bee131/scratchpad/workshop/assets/wax_seal_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2935" y="502920"/>
            <a:ext cx="868680" cy="86868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0682935" y="763524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b="1" dirty="0">
                <a:solidFill>
                  <a:srgbClr val="EFE3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850" dirty="0"/>
          </a:p>
        </p:txBody>
      </p:sp>
      <p:sp>
        <p:nvSpPr>
          <p:cNvPr id="5" name="Text 1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B886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8 · 10 MIN</a:t>
            </a:r>
            <a:endParaRPr lang="en-US" sz="1300" dirty="0"/>
          </a:p>
        </p:txBody>
      </p:sp>
      <p:sp>
        <p:nvSpPr>
          <p:cNvPr id="6" name="Text 2"/>
          <p:cNvSpPr txBox="1"/>
          <p:nvPr/>
        </p:nvSpPr>
        <p:spPr>
          <a:xfrm>
            <a:off x="640080" y="841248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1B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LangSmith: See, and Measure</a:t>
            </a:r>
            <a:endParaRPr lang="en-US" sz="3000" dirty="0"/>
          </a:p>
        </p:txBody>
      </p:sp>
      <p:sp>
        <p:nvSpPr>
          <p:cNvPr id="7" name="Text 3"/>
          <p:cNvSpPr txBox="1"/>
          <p:nvPr/>
        </p:nvSpPr>
        <p:spPr>
          <a:xfrm>
            <a:off x="640080" y="1517904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43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“It looked right on 3 questions” isn't a test. A dataset and an LLM-as-judge is.</a:t>
            </a:r>
            <a:endParaRPr lang="en-US" sz="1500" dirty="0"/>
          </a:p>
        </p:txBody>
      </p:sp>
      <p:sp>
        <p:nvSpPr>
          <p:cNvPr id="8" name="Shape 4"/>
          <p:cNvSpPr/>
          <p:nvPr/>
        </p:nvSpPr>
        <p:spPr>
          <a:xfrm>
            <a:off x="640080" y="2331720"/>
            <a:ext cx="6309360" cy="3794760"/>
          </a:xfrm>
          <a:prstGeom prst="roundRect">
            <a:avLst>
              <a:gd name="adj" fmla="val 2169"/>
            </a:avLst>
          </a:prstGeom>
          <a:solidFill>
            <a:srgbClr val="20130A"/>
          </a:solidFill>
          <a:ln w="15875">
            <a:solidFill>
              <a:srgbClr val="8B6914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0000"/>
              </a:srgbClr>
            </a:outerShdw>
          </a:effectLst>
        </p:spPr>
      </p:sp>
      <p:sp>
        <p:nvSpPr>
          <p:cNvPr id="9" name="Text 5"/>
          <p:cNvSpPr txBox="1"/>
          <p:nvPr/>
        </p:nvSpPr>
        <p:spPr>
          <a:xfrm>
            <a:off x="841248" y="2478024"/>
            <a:ext cx="5907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D8B8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+ LLM-as-judge</a:t>
            </a:r>
            <a:endParaRPr lang="en-US" sz="1150" dirty="0"/>
          </a:p>
        </p:txBody>
      </p:sp>
      <p:sp>
        <p:nvSpPr>
          <p:cNvPr id="10" name="Text 6"/>
          <p:cNvSpPr txBox="1"/>
          <p:nvPr/>
        </p:nvSpPr>
        <p:spPr>
          <a:xfrm>
            <a:off x="841248" y="2788920"/>
            <a:ext cx="5907024" cy="3209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EFD9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 = Client()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EFD9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DATASET = "talk-to-a-book-demo"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EFD9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examples = [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EFD9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{"inputs": {"question": "Who does Elizabeth marry?"},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EFD9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"outputs": {"answer": "Mr. Fitzwilliam Darcy."}},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EFD9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… a couple more reference Q&amp;A pairs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EFD9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EFD9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client.create_examples(dataset_id=dataset.id, examples=examples)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EFD9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Grade(BaseModel):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EFD9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correct: bool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EFD9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judge = llm.with_structured_output(Grade)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EFD9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correct(inputs, outputs, reference_outputs):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EFD9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grade = judge.invoke(f"Question: {inputs['question']}\n"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EFD9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f"Reference: {reference_outputs['answer']}\n"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EFD9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f"Answer to grade: {outputs['answer']}")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EFD9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grade.correct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EFD9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client.evaluate(run_agent, data=DATASET, evaluators=[correct])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7315200" y="2331720"/>
            <a:ext cx="4236415" cy="3794760"/>
          </a:xfrm>
          <a:prstGeom prst="roundRect">
            <a:avLst>
              <a:gd name="adj" fmla="val 2169"/>
            </a:avLst>
          </a:prstGeom>
          <a:solidFill>
            <a:srgbClr val="E9D9AF"/>
          </a:solidFill>
          <a:ln w="12700">
            <a:solidFill>
              <a:srgbClr val="B79A6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22000"/>
              </a:srgbClr>
            </a:outerShdw>
          </a:effectLst>
        </p:spPr>
      </p:sp>
      <p:sp>
        <p:nvSpPr>
          <p:cNvPr id="12" name="Text 8"/>
          <p:cNvSpPr txBox="1"/>
          <p:nvPr/>
        </p:nvSpPr>
        <p:spPr>
          <a:xfrm>
            <a:off x="7543800" y="2542032"/>
            <a:ext cx="37792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E1B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every trace, see:</a:t>
            </a:r>
            <a:endParaRPr lang="en-US" sz="1450" dirty="0"/>
          </a:p>
        </p:txBody>
      </p:sp>
      <p:sp>
        <p:nvSpPr>
          <p:cNvPr id="13" name="Text 9"/>
          <p:cNvSpPr txBox="1"/>
          <p:nvPr/>
        </p:nvSpPr>
        <p:spPr>
          <a:xfrm>
            <a:off x="7543800" y="2926080"/>
            <a:ext cx="377921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B43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graph steps: agent → tools → agent → …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B43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exact prompt sent to Gemini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B43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each tool call's input and output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B43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tokens and latency, per step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7543800" y="4663440"/>
            <a:ext cx="377921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B43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smith.langchain.com → Projects → talk-to-a-book</a:t>
            </a:r>
            <a:endParaRPr lang="en-US" sz="1150" dirty="0"/>
          </a:p>
        </p:txBody>
      </p:sp>
      <p:sp>
        <p:nvSpPr>
          <p:cNvPr id="15" name="Text 11"/>
          <p:cNvSpPr txBox="1"/>
          <p:nvPr/>
        </p:nvSpPr>
        <p:spPr>
          <a:xfrm>
            <a:off x="11277295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43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b49800f1-18ed-5a5d-af83-9ac3e3bee131/scratchpad/workshop/assets/parchment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B886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A SPELL MISFIRES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841248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1B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Troubleshooting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1517904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43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Every one of these is expected at some point. None of them mean you did it wrong.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331720"/>
            <a:ext cx="3749040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A1C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RateLimitError (Voyage, 3 RPM)</a:t>
            </a:r>
            <a:endParaRPr lang="en-US" sz="1150" dirty="0"/>
          </a:p>
        </p:txBody>
      </p:sp>
      <p:sp>
        <p:nvSpPr>
          <p:cNvPr id="7" name="Text 4"/>
          <p:cNvSpPr txBox="1"/>
          <p:nvPr/>
        </p:nvSpPr>
        <p:spPr>
          <a:xfrm>
            <a:off x="4572000" y="2331720"/>
            <a:ext cx="6979615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43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Make sure Step 3 uses FreeTierVoyageEmbeddings. Two notebooks, one key → run one at a time.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2866644"/>
            <a:ext cx="3749040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A1C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Embedding takes ~20 min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4572000" y="2866644"/>
            <a:ext cx="6979615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43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on the free tier. Progress saves after every request — re-running resumes, doesn't restart.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3401568"/>
            <a:ext cx="3749040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A1C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429 RESOURCE_EXHAUSTED (Gemini)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4572000" y="3401568"/>
            <a:ext cx="6979615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43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Free-tier quota reached — wait a minute. Each question uses 2–4 model calls.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640080" y="3936492"/>
            <a:ext cx="3749040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A1C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400 API_KEY_INVALID (Gemini)</a:t>
            </a:r>
            <a:endParaRPr lang="en-US" sz="1150" dirty="0"/>
          </a:p>
        </p:txBody>
      </p:sp>
      <p:sp>
        <p:nvSpPr>
          <p:cNvPr id="13" name="Text 10"/>
          <p:cNvSpPr txBox="1"/>
          <p:nvPr/>
        </p:nvSpPr>
        <p:spPr>
          <a:xfrm>
            <a:off x="4572000" y="3936492"/>
            <a:ext cx="6979615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43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key was mistyped or deleted. Make a new one at aistudio.google.com/apikey.</a:t>
            </a:r>
            <a:endParaRPr lang="en-US" sz="1250" dirty="0"/>
          </a:p>
        </p:txBody>
      </p:sp>
      <p:sp>
        <p:nvSpPr>
          <p:cNvPr id="14" name="Text 11"/>
          <p:cNvSpPr txBox="1"/>
          <p:nvPr/>
        </p:nvSpPr>
        <p:spPr>
          <a:xfrm>
            <a:off x="640080" y="4471416"/>
            <a:ext cx="3749040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A1C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LangSmith 403 Forbidden</a:t>
            </a:r>
            <a:endParaRPr lang="en-US" sz="1150" dirty="0"/>
          </a:p>
        </p:txBody>
      </p:sp>
      <p:sp>
        <p:nvSpPr>
          <p:cNvPr id="15" name="Text 12"/>
          <p:cNvSpPr txBox="1"/>
          <p:nvPr/>
        </p:nvSpPr>
        <p:spPr>
          <a:xfrm>
            <a:off x="4572000" y="4471416"/>
            <a:ext cx="6979615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43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EU account — add LANGSMITH_ENDPOINT=https://eu.api.smith.langchain.com to .env.</a:t>
            </a:r>
            <a:endParaRPr lang="en-US" sz="1250" dirty="0"/>
          </a:p>
        </p:txBody>
      </p:sp>
      <p:sp>
        <p:nvSpPr>
          <p:cNvPr id="16" name="Text 13"/>
          <p:cNvSpPr txBox="1"/>
          <p:nvPr/>
        </p:nvSpPr>
        <p:spPr>
          <a:xfrm>
            <a:off x="640080" y="5006340"/>
            <a:ext cx="3749040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A1C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Wrong chapter count</a:t>
            </a:r>
            <a:endParaRPr lang="en-US" sz="1150" dirty="0"/>
          </a:p>
        </p:txBody>
      </p:sp>
      <p:sp>
        <p:nvSpPr>
          <p:cNvPr id="17" name="Text 14"/>
          <p:cNvSpPr txBox="1"/>
          <p:nvPr/>
        </p:nvSpPr>
        <p:spPr>
          <a:xfrm>
            <a:off x="4572000" y="5006340"/>
            <a:ext cx="6979615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43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Adjust CHAPTER_PATTERN (Step 2) to match your book's actual headings.</a:t>
            </a:r>
            <a:endParaRPr lang="en-US" sz="1250" dirty="0"/>
          </a:p>
        </p:txBody>
      </p:sp>
      <p:sp>
        <p:nvSpPr>
          <p:cNvPr id="18" name="Text 15"/>
          <p:cNvSpPr txBox="1"/>
          <p:nvPr/>
        </p:nvSpPr>
        <p:spPr>
          <a:xfrm>
            <a:off x="640080" y="5541264"/>
            <a:ext cx="3749040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A1C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GraphRecursionError</a:t>
            </a:r>
            <a:endParaRPr lang="en-US" sz="1150" dirty="0"/>
          </a:p>
        </p:txBody>
      </p:sp>
      <p:sp>
        <p:nvSpPr>
          <p:cNvPr id="19" name="Text 16"/>
          <p:cNvSpPr txBox="1"/>
          <p:nvPr/>
        </p:nvSpPr>
        <p:spPr>
          <a:xfrm>
            <a:off x="4572000" y="5541264"/>
            <a:ext cx="6979615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43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agent looped past 20 steps — rephrase the question, or raise recursion_limit.</a:t>
            </a:r>
            <a:endParaRPr lang="en-US" sz="1250" dirty="0"/>
          </a:p>
        </p:txBody>
      </p:sp>
      <p:sp>
        <p:nvSpPr>
          <p:cNvPr id="20" name="Text 17"/>
          <p:cNvSpPr txBox="1"/>
          <p:nvPr/>
        </p:nvSpPr>
        <p:spPr>
          <a:xfrm>
            <a:off x="11277295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43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b49800f1-18ed-5a5d-af83-9ac3e3bee131/scratchpad/workshop/assets/parchment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B886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BOOK DOESN'T END HERE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841248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1B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to Go Next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1517904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43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You built a working RAG agent. Here's how to keep stretching it.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331720"/>
            <a:ext cx="64008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📖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1325880" y="2331720"/>
            <a:ext cx="4541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E1B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Talk to another book</a:t>
            </a:r>
            <a:endParaRPr lang="en-US" sz="1450" dirty="0"/>
          </a:p>
        </p:txBody>
      </p:sp>
      <p:sp>
        <p:nvSpPr>
          <p:cNvPr id="8" name="Text 5"/>
          <p:cNvSpPr txBox="1"/>
          <p:nvPr/>
        </p:nvSpPr>
        <p:spPr>
          <a:xfrm>
            <a:off x="1325880" y="2697480"/>
            <a:ext cx="45413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B43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change BOOK_PATH and BOOK_TITLE in Step 0, and re-run everything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6324448" y="2331720"/>
            <a:ext cx="64008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🙈</a:t>
            </a:r>
            <a:endParaRPr lang="en-US" sz="2400" dirty="0"/>
          </a:p>
        </p:txBody>
      </p:sp>
      <p:sp>
        <p:nvSpPr>
          <p:cNvPr id="10" name="Text 7"/>
          <p:cNvSpPr txBox="1"/>
          <p:nvPr/>
        </p:nvSpPr>
        <p:spPr>
          <a:xfrm>
            <a:off x="7010248" y="2331720"/>
            <a:ext cx="4541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E1B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spoiler guard</a:t>
            </a:r>
            <a:endParaRPr lang="en-US" sz="1450" dirty="0"/>
          </a:p>
        </p:txBody>
      </p:sp>
      <p:sp>
        <p:nvSpPr>
          <p:cNvPr id="11" name="Text 8"/>
          <p:cNvSpPr txBox="1"/>
          <p:nvPr/>
        </p:nvSpPr>
        <p:spPr>
          <a:xfrm>
            <a:off x="7010248" y="2697480"/>
            <a:ext cx="45413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B43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filter search_book by a max_chapter, so it never reads ahead of the reader</a:t>
            </a:r>
            <a:endParaRPr lang="en-US" sz="1150" dirty="0"/>
          </a:p>
        </p:txBody>
      </p:sp>
      <p:sp>
        <p:nvSpPr>
          <p:cNvPr id="12" name="Text 9"/>
          <p:cNvSpPr txBox="1"/>
          <p:nvPr/>
        </p:nvSpPr>
        <p:spPr>
          <a:xfrm>
            <a:off x="640080" y="3410712"/>
            <a:ext cx="64008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🗝️</a:t>
            </a:r>
            <a:endParaRPr lang="en-US" sz="2400" dirty="0"/>
          </a:p>
        </p:txBody>
      </p:sp>
      <p:sp>
        <p:nvSpPr>
          <p:cNvPr id="13" name="Text 10"/>
          <p:cNvSpPr txBox="1"/>
          <p:nvPr/>
        </p:nvSpPr>
        <p:spPr>
          <a:xfrm>
            <a:off x="1325880" y="3410712"/>
            <a:ext cx="4541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E1B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Memory that survives a restart</a:t>
            </a:r>
            <a:endParaRPr lang="en-US" sz="1450" dirty="0"/>
          </a:p>
        </p:txBody>
      </p:sp>
      <p:sp>
        <p:nvSpPr>
          <p:cNvPr id="14" name="Text 11"/>
          <p:cNvSpPr txBox="1"/>
          <p:nvPr/>
        </p:nvSpPr>
        <p:spPr>
          <a:xfrm>
            <a:off x="1325880" y="3776472"/>
            <a:ext cx="45413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B43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swap InMemorySaver for SqliteSaver (langgraph-checkpoint-sqlite)</a:t>
            </a:r>
            <a:endParaRPr lang="en-US" sz="1150" dirty="0"/>
          </a:p>
        </p:txBody>
      </p:sp>
      <p:sp>
        <p:nvSpPr>
          <p:cNvPr id="15" name="Text 12"/>
          <p:cNvSpPr txBox="1"/>
          <p:nvPr/>
        </p:nvSpPr>
        <p:spPr>
          <a:xfrm>
            <a:off x="6324448" y="3410712"/>
            <a:ext cx="64008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📜</a:t>
            </a:r>
            <a:endParaRPr lang="en-US" sz="2400" dirty="0"/>
          </a:p>
        </p:txBody>
      </p:sp>
      <p:sp>
        <p:nvSpPr>
          <p:cNvPr id="16" name="Text 13"/>
          <p:cNvSpPr txBox="1"/>
          <p:nvPr/>
        </p:nvSpPr>
        <p:spPr>
          <a:xfrm>
            <a:off x="7010248" y="3410712"/>
            <a:ext cx="4541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E1B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Longer conversations</a:t>
            </a:r>
            <a:endParaRPr lang="en-US" sz="1450" dirty="0"/>
          </a:p>
        </p:txBody>
      </p:sp>
      <p:sp>
        <p:nvSpPr>
          <p:cNvPr id="17" name="Text 14"/>
          <p:cNvSpPr txBox="1"/>
          <p:nvPr/>
        </p:nvSpPr>
        <p:spPr>
          <a:xfrm>
            <a:off x="7010248" y="3776472"/>
            <a:ext cx="45413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B43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trim or summarize old messages before calling the LLM</a:t>
            </a:r>
            <a:endParaRPr lang="en-US" sz="1150" dirty="0"/>
          </a:p>
        </p:txBody>
      </p:sp>
      <p:sp>
        <p:nvSpPr>
          <p:cNvPr id="18" name="Text 15"/>
          <p:cNvSpPr txBox="1"/>
          <p:nvPr/>
        </p:nvSpPr>
        <p:spPr>
          <a:xfrm>
            <a:off x="640080" y="4489704"/>
            <a:ext cx="64008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🔮</a:t>
            </a:r>
            <a:endParaRPr lang="en-US" sz="2400" dirty="0"/>
          </a:p>
        </p:txBody>
      </p:sp>
      <p:sp>
        <p:nvSpPr>
          <p:cNvPr id="19" name="Text 16"/>
          <p:cNvSpPr txBox="1"/>
          <p:nvPr/>
        </p:nvSpPr>
        <p:spPr>
          <a:xfrm>
            <a:off x="1325880" y="4489704"/>
            <a:ext cx="4541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E1B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Better retrieval</a:t>
            </a:r>
            <a:endParaRPr lang="en-US" sz="1450" dirty="0"/>
          </a:p>
        </p:txBody>
      </p:sp>
      <p:sp>
        <p:nvSpPr>
          <p:cNvPr id="20" name="Text 17"/>
          <p:cNvSpPr txBox="1"/>
          <p:nvPr/>
        </p:nvSpPr>
        <p:spPr>
          <a:xfrm>
            <a:off x="1325880" y="4855464"/>
            <a:ext cx="45413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B43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combine keyword search (BM25) with embeddings, or add a reranker</a:t>
            </a:r>
            <a:endParaRPr lang="en-US" sz="1150" dirty="0"/>
          </a:p>
        </p:txBody>
      </p:sp>
      <p:sp>
        <p:nvSpPr>
          <p:cNvPr id="21" name="Text 18"/>
          <p:cNvSpPr txBox="1"/>
          <p:nvPr/>
        </p:nvSpPr>
        <p:spPr>
          <a:xfrm>
            <a:off x="6324448" y="4489704"/>
            <a:ext cx="64008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🕯️</a:t>
            </a:r>
            <a:endParaRPr lang="en-US" sz="2400" dirty="0"/>
          </a:p>
        </p:txBody>
      </p:sp>
      <p:sp>
        <p:nvSpPr>
          <p:cNvPr id="22" name="Text 19"/>
          <p:cNvSpPr txBox="1"/>
          <p:nvPr/>
        </p:nvSpPr>
        <p:spPr>
          <a:xfrm>
            <a:off x="7010248" y="4489704"/>
            <a:ext cx="4541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E1B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web UI</a:t>
            </a:r>
            <a:endParaRPr lang="en-US" sz="1450" dirty="0"/>
          </a:p>
        </p:txBody>
      </p:sp>
      <p:sp>
        <p:nvSpPr>
          <p:cNvPr id="23" name="Text 20"/>
          <p:cNvSpPr txBox="1"/>
          <p:nvPr/>
        </p:nvSpPr>
        <p:spPr>
          <a:xfrm>
            <a:off x="7010248" y="4855464"/>
            <a:ext cx="45413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B43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wrap ask() in a small Streamlit or Gradio app</a:t>
            </a:r>
            <a:endParaRPr lang="en-US" sz="1150" dirty="0"/>
          </a:p>
        </p:txBody>
      </p:sp>
      <p:sp>
        <p:nvSpPr>
          <p:cNvPr id="24" name="Text 21"/>
          <p:cNvSpPr txBox="1"/>
          <p:nvPr/>
        </p:nvSpPr>
        <p:spPr>
          <a:xfrm>
            <a:off x="11277295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43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b49800f1-18ed-5a5d-af83-9ac3e3bee131/scratchpad/workshop/assets/leather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0" y="777240"/>
            <a:ext cx="121916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FE3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Let's Connect</a:t>
            </a:r>
            <a:endParaRPr lang="en-US" sz="3400" dirty="0"/>
          </a:p>
        </p:txBody>
      </p:sp>
      <p:sp>
        <p:nvSpPr>
          <p:cNvPr id="4" name="Text 1"/>
          <p:cNvSpPr txBox="1"/>
          <p:nvPr/>
        </p:nvSpPr>
        <p:spPr>
          <a:xfrm>
            <a:off x="0" y="1481328"/>
            <a:ext cx="121916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i="1" dirty="0">
                <a:solidFill>
                  <a:srgbClr val="C9B98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Questions, feedback, or just want to talk shop — find me here.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1463040" y="2331720"/>
            <a:ext cx="2331720" cy="2331720"/>
          </a:xfrm>
          <a:prstGeom prst="roundRect">
            <a:avLst>
              <a:gd name="adj" fmla="val 3922"/>
            </a:avLst>
          </a:prstGeom>
          <a:solidFill>
            <a:srgbClr val="2F1D10"/>
          </a:solidFill>
          <a:ln w="15875">
            <a:solidFill>
              <a:srgbClr val="B8860B"/>
            </a:solidFill>
            <a:prstDash val="dash"/>
          </a:ln>
        </p:spPr>
      </p:sp>
      <p:sp>
        <p:nvSpPr>
          <p:cNvPr id="6" name="Text 3"/>
          <p:cNvSpPr txBox="1"/>
          <p:nvPr/>
        </p:nvSpPr>
        <p:spPr>
          <a:xfrm>
            <a:off x="1463040" y="2834640"/>
            <a:ext cx="2331720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dirty="0">
                <a:solidFill>
                  <a:srgbClr val="000000"/>
                </a:solidFill>
              </a:rPr>
              <a:t>🕯️</a:t>
            </a:r>
            <a:endParaRPr lang="en-US" sz="4600" dirty="0"/>
          </a:p>
        </p:txBody>
      </p:sp>
      <p:sp>
        <p:nvSpPr>
          <p:cNvPr id="7" name="Text 4"/>
          <p:cNvSpPr txBox="1"/>
          <p:nvPr/>
        </p:nvSpPr>
        <p:spPr>
          <a:xfrm>
            <a:off x="1463040" y="391729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9B98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add your photo here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1463040" y="482803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EFE3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Karan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4343400" y="2377440"/>
            <a:ext cx="3657600" cy="777240"/>
          </a:xfrm>
          <a:prstGeom prst="roundRect">
            <a:avLst>
              <a:gd name="adj" fmla="val 11765"/>
            </a:avLst>
          </a:prstGeom>
          <a:solidFill>
            <a:srgbClr val="2F1D10"/>
          </a:solidFill>
          <a:ln w="12700">
            <a:solidFill>
              <a:srgbClr val="4A301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44568" y="2528316"/>
            <a:ext cx="475488" cy="47548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544568" y="25283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415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5166360" y="24688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8B8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LinkedIn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5166360" y="276148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FE3C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linkedin.com/in/karan-270102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4343400" y="3355848"/>
            <a:ext cx="3657600" cy="777240"/>
          </a:xfrm>
          <a:prstGeom prst="roundRect">
            <a:avLst>
              <a:gd name="adj" fmla="val 11765"/>
            </a:avLst>
          </a:prstGeom>
          <a:solidFill>
            <a:srgbClr val="2F1D10"/>
          </a:solidFill>
          <a:ln w="12700">
            <a:solidFill>
              <a:srgbClr val="4A301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544568" y="3506724"/>
            <a:ext cx="475488" cy="47548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4544568" y="350672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415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‹/›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5166360" y="344728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8B8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GitHub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5166360" y="3739896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FE3C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github.com/karan-17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4343400" y="4334256"/>
            <a:ext cx="3657600" cy="777240"/>
          </a:xfrm>
          <a:prstGeom prst="roundRect">
            <a:avLst>
              <a:gd name="adj" fmla="val 11765"/>
            </a:avLst>
          </a:prstGeom>
          <a:solidFill>
            <a:srgbClr val="2F1D10"/>
          </a:solidFill>
          <a:ln w="12700">
            <a:solidFill>
              <a:srgbClr val="4A3018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544568" y="4485132"/>
            <a:ext cx="475488" cy="47548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4544568" y="44851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415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IG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5166360" y="4425696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8B8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Instagram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5166360" y="4718304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FE3C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instagram.com/_karan_1.7_</a:t>
            </a:r>
            <a:endParaRPr lang="en-US" sz="1250" dirty="0"/>
          </a:p>
        </p:txBody>
      </p:sp>
      <p:sp>
        <p:nvSpPr>
          <p:cNvPr id="24" name="Shape 21"/>
          <p:cNvSpPr/>
          <p:nvPr/>
        </p:nvSpPr>
        <p:spPr>
          <a:xfrm>
            <a:off x="8366760" y="2377440"/>
            <a:ext cx="3154680" cy="2734056"/>
          </a:xfrm>
          <a:prstGeom prst="roundRect">
            <a:avLst>
              <a:gd name="adj" fmla="val 3344"/>
            </a:avLst>
          </a:prstGeom>
          <a:solidFill>
            <a:srgbClr val="EFE3C4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pic>
        <p:nvPicPr>
          <p:cNvPr id="25" name="Image 1" descr="/tmp/claude-0/-home-claude/b49800f1-18ed-5a5d-af83-9ac3e3bee131/scratchpad/deck/assets/qr_cod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5400" y="2578608"/>
            <a:ext cx="2057400" cy="2057400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8366760" y="4727448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415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Scan to connect</a:t>
            </a:r>
            <a:endParaRPr lang="en-US" sz="1200" dirty="0"/>
          </a:p>
        </p:txBody>
      </p:sp>
      <p:sp>
        <p:nvSpPr>
          <p:cNvPr id="27" name="Text 23"/>
          <p:cNvSpPr txBox="1"/>
          <p:nvPr/>
        </p:nvSpPr>
        <p:spPr>
          <a:xfrm>
            <a:off x="11277295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9B98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2026-09-23T22:37:06Z</dcterms:created>
  <dcterms:modified xsi:type="dcterms:W3CDTF">2026-09-23T22:37:06Z</dcterms:modified>
</cp:coreProperties>
</file>